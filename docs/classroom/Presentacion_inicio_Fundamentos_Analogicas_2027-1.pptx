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Ponderación</c:v>
          </c:tx>
          <c:dPt>
            <c:idx val="0"/>
            <c:bubble3D val="0"/>
            <c:spPr>
              <a:solidFill>
                <a:srgbClr val="002B5C"/>
              </a:solidFill>
            </c:spPr>
            <c:extLst>
              <c:ext xmlns:c16="http://schemas.microsoft.com/office/drawing/2014/chart" uri="{C3380CC4-5D6E-409C-BE32-E72D297353CC}">
                <c16:uniqueId val="{00000001-B377-4185-BBA9-48ACB0F49EDE}"/>
              </c:ext>
            </c:extLst>
          </c:dPt>
          <c:dPt>
            <c:idx val="1"/>
            <c:bubble3D val="0"/>
            <c:spPr>
              <a:solidFill>
                <a:srgbClr val="2E8BC0"/>
              </a:solidFill>
            </c:spPr>
            <c:extLst>
              <c:ext xmlns:c16="http://schemas.microsoft.com/office/drawing/2014/chart" uri="{C3380CC4-5D6E-409C-BE32-E72D297353CC}">
                <c16:uniqueId val="{00000003-B377-4185-BBA9-48ACB0F49EDE}"/>
              </c:ext>
            </c:extLst>
          </c:dPt>
          <c:dPt>
            <c:idx val="2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5-B377-4185-BBA9-48ACB0F49EDE}"/>
              </c:ext>
            </c:extLst>
          </c:dPt>
          <c:dPt>
            <c:idx val="3"/>
            <c:bubble3D val="0"/>
            <c:spPr>
              <a:solidFill>
                <a:srgbClr val="6B7280"/>
              </a:solidFill>
            </c:spPr>
            <c:extLst>
              <c:ext xmlns:c16="http://schemas.microsoft.com/office/drawing/2014/chart" uri="{C3380CC4-5D6E-409C-BE32-E72D297353CC}">
                <c16:uniqueId val="{00000007-B377-4185-BBA9-48ACB0F49EDE}"/>
              </c:ext>
            </c:extLst>
          </c:dPt>
          <c:dPt>
            <c:idx val="4"/>
            <c:bubble3D val="0"/>
            <c:spPr>
              <a:solidFill>
                <a:srgbClr val="9CA3AF"/>
              </a:solidFill>
            </c:spPr>
            <c:extLst>
              <c:ext xmlns:c16="http://schemas.microsoft.com/office/drawing/2014/chart" uri="{C3380CC4-5D6E-409C-BE32-E72D297353CC}">
                <c16:uniqueId val="{00000009-B377-4185-BBA9-48ACB0F49ED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11827"/>
                    </a:solidFill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Exámenes</c:v>
              </c:pt>
              <c:pt idx="1">
                <c:v>Prácticas</c:v>
              </c:pt>
              <c:pt idx="2">
                <c:v>Proyecto</c:v>
              </c:pt>
              <c:pt idx="3">
                <c:v>Tareas</c:v>
              </c:pt>
              <c:pt idx="4">
                <c:v>Participación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30</c:v>
              </c:pt>
              <c:pt idx="2">
                <c:v>15</c:v>
              </c:pt>
              <c:pt idx="3">
                <c:v>10</c:v>
              </c:pt>
              <c:pt idx="4">
                <c:v>5</c:v>
              </c:pt>
            </c:numLit>
          </c:val>
          <c:extLst>
            <c:ext xmlns:c16="http://schemas.microsoft.com/office/drawing/2014/chart" uri="{C3380CC4-5D6E-409C-BE32-E72D297353CC}">
              <c16:uniqueId val="{0000000A-B377-4185-BBA9-48ACB0F49ED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11827"/>
              </a:solidFill>
            </a:defRPr>
          </a:pPr>
          <a:endParaRPr lang="es-MX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la bienvenida y explicar que esta sesión fija expectativas comunes desde el primer día.</a:t>
            </a:r>
          </a:p>
          <a:p>
            <a:r>
              <a:t>Señalar que programa, criterios y lineamientos permanecerán disponibles en Classroom.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</a:t>
            </a:r>
          </a:p>
          <a:p>
            <a:r>
              <a:t>- C:/Users/jesus/Documents/Fundamentos_Analogicas/docs/classroom/Lineamientos_Fundamentos_Sistemas_Electronicos_Analogicos_2027-1.docx</a:t>
            </a:r>
          </a:p>
          <a:p>
            <a:r>
              <a:t>- OpenAI ImageGen, imagen original generada para esta presentación.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la materia con sensores reales: temperatura, deformación, vibración, luz y presión.</a:t>
            </a:r>
          </a:p>
          <a:p>
            <a:r>
              <a:t>Enfatizar que el objetivo no es memorizar configuraciones, sino justificar decisiones y verificar límites.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Introducción y objetivo general.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los cuatro resultados como compromisos de desempeño observables.</a:t>
            </a:r>
          </a:p>
          <a:p>
            <a:r>
              <a:t>Cubren las siete unidades UNAM: polarización, amplificación, potencia, osciladores, op-amps, filtros y conversión.</a:t>
            </a:r>
          </a:p>
          <a:p>
            <a:r>
              <a:t>Anticipar que el proyecto integrador exigirá los cuatro al mismo tiempo.</a:t>
            </a:r>
          </a:p>
          <a:p>
            <a:endParaRPr/>
          </a:p>
          <a:p>
            <a:r>
              <a:t>[Sources]</a:t>
            </a:r>
          </a:p>
          <a:p>
            <a:r>
              <a:t>- docs/classroom/Programa_Fundamentos_Sistemas_Electronicos_Analogicos_2027-1.docx — Resultados de aprendizaje.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esta lámina para explicar la estructura recurrente de tareas, prácticas e informes.</a:t>
            </a:r>
          </a:p>
          <a:p>
            <a:r>
              <a:t>Una captura de pantalla no sustituye un archivo reproducible ni los datos crudos.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Estrategias didácticas y entregas.</a:t>
            </a:r>
          </a:p>
          <a:p>
            <a:r>
              <a:t>- OpenAI ImageGen, imagen original generada para esta presentación.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que las unidades no son temas aislados: cada bloque habilita el siguiente.</a:t>
            </a:r>
          </a:p>
          <a:p>
            <a:r>
              <a:t>Las semanas 1 y 2 no son una unidad UNAM extra: diagnostican Ohm/Kirchhoff y preparan divisores/puentes antes de Polarización (Unidad I).</a:t>
            </a:r>
          </a:p>
          <a:p>
            <a:r>
              <a:t>La asignatura dispone de cuatro horas de teoría y dos horas de práctica por semana.</a:t>
            </a:r>
          </a:p>
          <a:p>
            <a:endParaRPr/>
          </a:p>
          <a:p>
            <a:r>
              <a:t>[Sources]</a:t>
            </a:r>
          </a:p>
          <a:p>
            <a:r>
              <a:t>- docs/classroom/Programa_Fundamentos_Sistemas_Electronicos_Analogicos_2027-1.docx — Unidades del curso y Semanas 1–2.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propósito de cada semana y aclarar que las fechas exactas de entrega se publicarán en Classroom.</a:t>
            </a:r>
          </a:p>
          <a:p>
            <a:r>
              <a:t>Las semanas son bloques lunes-domingo; los días inhábiles se ajustarán por escrito.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Planeación semanal.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propósito de cada semana y aclarar que las fechas exactas de entrega se publicarán en Classroom.</a:t>
            </a:r>
          </a:p>
          <a:p>
            <a:r>
              <a:t>Las semanas son bloques lunes-domingo; los días inhábiles se ajustarán por escrito.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Planeación semanal.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propósito de cada semana y aclarar que las fechas exactas de entrega se publicarán en Classroom.</a:t>
            </a:r>
          </a:p>
          <a:p>
            <a:r>
              <a:t>Las semanas son bloques lunes-domingo; los días inhábiles se ajustarán por escrito.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Planeación semanal.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propósito de cada semana y aclarar que las fechas exactas de entrega se publicarán en Classroom.</a:t>
            </a:r>
          </a:p>
          <a:p>
            <a:r>
              <a:t>Las semanas son bloques lunes-domingo; los días inhábiles se ajustarán por escrito.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Planeación semanal.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la respuesta numérica sin procedimiento, unidades o interpretación puede recibir crédito parcial limitado.</a:t>
            </a:r>
          </a:p>
          <a:p>
            <a:r>
              <a:t>Explicar que el proyecto tiene defensa individual y la calificación del equipo puede ajustarse por contribución demostrable.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Integración de la calificación y detalle de componentes.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Distinguir claramente entre aprobar institucionalmente (6) y exentar por evaluación continua (8.0).</a:t>
            </a:r>
          </a:p>
          <a:p>
            <a:r>
              <a:t>No presentar el 8.0 como calificación aprobatoria institucional.</a:t>
            </a:r>
          </a:p>
          <a:p>
            <a:r>
              <a:t>La asistencia del 80 % aplica a las sesiones que el Consejo Técnico o la programación del curso determinen obligatorias.</a:t>
            </a:r>
          </a:p>
          <a:p>
            <a:endParaRPr/>
          </a:p>
          <a:p>
            <a:r>
              <a:t>[Sources]</a:t>
            </a:r>
          </a:p>
          <a:p>
            <a:r>
              <a:t>- docs/classroom/Programa_Fundamentos_Sistemas_Electronicos_Analogicos_2027-1.docx — Marco de evaluación y condiciones de evaluación continua.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Informe equivale a comunicacion tecnica, conclusiones y trazabilidad (15 %).</a:t>
            </a:r>
          </a:p>
          <a:p>
            <a:r>
              <a:t>Explicar que la práctica no termina al obtener una forma de onda: debe haber análisis y trazabilidad.</a:t>
            </a:r>
          </a:p>
          <a:p>
            <a:r>
              <a:t>Una conducta insegura detiene la actividad; ninguna calificación justifica energizar un montaje inseguro.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Prácticas e informes.</a:t>
            </a:r>
          </a:p>
          <a:p>
            <a:r>
              <a:t>- C:/Users/jesus/Documents/Fundamentos_Analogicas/docs/classroom/Lineamientos_Fundamentos_Sistemas_Electronicos_Analogicos_2027-1.docx — Rúbrica de práctica.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una bitácora ejemplo durante la exposición si se dispone de ella.</a:t>
            </a:r>
          </a:p>
          <a:p>
            <a:r>
              <a:t>Recordar que integrantes y contribuciones deben quedar identificados, pero no se proyectará el padrón del grupo.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C:/Users/jesus/Documents/Fundamentos_Analogicas/docs/classroom/Lineamientos_Fundamentos_Sistemas_Electronicos_Analogicos_2027-1.docx — Bitácora y trazabilidad.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al grupo que identifique paro de emergencia, rutas de evacuación y ubicación del responsable.</a:t>
            </a:r>
          </a:p>
          <a:p>
            <a:r>
              <a:t>No mover a una persona lesionada salvo peligro inmediato. Confirmar números y señalización vigentes del campus antes de la sesión.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C:/Users/jesus/Documents/Fundamentos_Analogicas/docs/classroom/Lineamientos_Fundamentos_Sistemas_Electronicos_Analogicos_2027-1.docx — Seguridad eléctrica y emergencias.</a:t>
            </a:r>
          </a:p>
          <a:p>
            <a:r>
              <a:t>- Reglamento de los Laboratorios de la ENES Juriquilla, enero de 2020.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roles deben cambiar entre prácticas para que nadie quede limitado a una sola función.</a:t>
            </a:r>
          </a:p>
          <a:p>
            <a:r>
              <a:t>La calificación común puede ajustarse individualmente por evidencia, defensa o incumplimiento.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C:/Users/jesus/Documents/Fundamentos_Analogicas/docs/classroom/Lineamientos_Fundamentos_Sistemas_Electronicos_Analogicos_2027-1.docx — Trabajo en equipo.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cada actividad podrá restringir herramientas adicionales.</a:t>
            </a:r>
          </a:p>
          <a:p>
            <a:r>
              <a:t>La declaración de uso de IA debe ser breve y concreta: herramienta, propósito y verificación realizada.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Integridad académica y uso de IA.</a:t>
            </a:r>
          </a:p>
          <a:p>
            <a:r>
              <a:t>- C:/Users/jesus/Documents/Fundamentos_Analogicas/docs/classroom/Lineamientos_Fundamentos_Sistemas_Electronicos_Analogicos_2027-1.docx — Integridad, fuentes e IA.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al estudiantado activar notificaciones y revisar que use la cuenta correcta.</a:t>
            </a:r>
          </a:p>
          <a:p>
            <a:r>
              <a:t>No enviar invitaciones durante esta exposición; el padrón se utilizará después y no forma parte de las diapositivas.</a:t>
            </a:r>
          </a:p>
          <a:p>
            <a:endParaRPr/>
          </a:p>
          <a:p>
            <a:r>
              <a:t>[Sources]</a:t>
            </a:r>
          </a:p>
          <a:p>
            <a:r>
              <a:t>- C:/Users/jesus/Documents/Fundamentos_Analogicas/docs/classroom/Programa_Fundamentos_Sistemas_Electronicos_Analogicos_2027-1.docx — Entregas, retroalimentación y revisión.</a:t>
            </a:r>
          </a:p>
          <a:p>
            <a:r>
              <a:t>- C:/Users/jesus/Documents/Fundamentos_Analogicas/docs/classroom/Lineamientos_Fundamentos_Sistemas_Electronicos_Analogicos_2027-1.docx — Google Classroom y comunicación.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abriendo preguntas y solicitar que el grupo confirme la lectura de los documentos cuando se publiquen.</a:t>
            </a:r>
          </a:p>
          <a:p>
            <a:r>
              <a:t>El acuse acredita conocimiento de las reglas; no limita derechos universitarios.</a:t>
            </a:r>
          </a:p>
          <a:p>
            <a:r>
              <a:t>Adelantar que el proyecto final será una cadena analógica de baja tensión con requisitos, prueba de aceptación y defensa.</a:t>
            </a:r>
          </a:p>
          <a:p>
            <a:endParaRPr/>
          </a:p>
          <a:p>
            <a:r>
              <a:t>[Sources]</a:t>
            </a:r>
          </a:p>
          <a:p>
            <a:r>
              <a:t>- docs/classroom/Programa_Fundamentos_Sistemas_Electronicos_Analogicos_2027-1.docx — Planeación semanal, proyecto integrador y acuse de conocimiento.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overlay">
            <a:extLst>
              <a:ext uri="{FF2B5EF4-FFF2-40B4-BE49-F238E27FC236}">
                <a16:creationId xmlns:a16="http://schemas.microsoft.com/office/drawing/2014/main" id="{AB5FF364-F182-4CE8-813D-8D3ED546D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cover-gold-rule">
            <a:extLst>
              <a:ext uri="{FF2B5EF4-FFF2-40B4-BE49-F238E27FC236}">
                <a16:creationId xmlns:a16="http://schemas.microsoft.com/office/drawing/2014/main" id="{981716FA-B468-4F37-97B3-A361BFEC07F4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85725" cy="4610100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6342933E-F467-4C3E-8479-403107CF7556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UNAM · ENES JURIQUILLA · INGENIERÍA AEROESPACIAL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DA206EFB-3CE1-457E-8303-F1DEDDDFFFAD}"/>
              </a:ext>
            </a:extLst>
          </p:cNvPr>
          <p:cNvSpPr>
            <a:spLocks noGrp="1"/>
          </p:cNvSpPr>
          <p:nvPr/>
        </p:nvSpPr>
        <p:spPr>
          <a:xfrm>
            <a:off x="914400" y="1476375"/>
            <a:ext cx="6858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313"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Fundamentos de Sistemas</a:t>
            </a:r>
          </a:p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Electrónicos Analógicos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E75F272E-250F-4209-B010-2EA84BBB1D95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Programa, evaluación, ruta temática y trabajo seguro de laboratorio</a:t>
            </a:r>
          </a:p>
        </p:txBody>
      </p:sp>
      <p:sp>
        <p:nvSpPr>
          <p:cNvPr id="7" name="cover-meta">
            <a:extLst>
              <a:ext uri="{FF2B5EF4-FFF2-40B4-BE49-F238E27FC236}">
                <a16:creationId xmlns:a16="http://schemas.microsoft.com/office/drawing/2014/main" id="{DEE7A068-BE65-4904-94F8-2BC25837ABD2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Semestre 2027-1  |  17 de agosto–6 de diciembre de 2026</a:t>
            </a:r>
          </a:p>
          <a:p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M. en C. José de Jesús Santana Ramírez</a:t>
            </a:r>
          </a:p>
        </p:txBody>
      </p:sp>
    </p:spTree>
    <p:extLst>
      <p:ext uri="{BB962C8B-B14F-4D97-AF65-F5344CB8AC3E}">
        <p14:creationId xmlns:p14="http://schemas.microsoft.com/office/powerpoint/2010/main" val="93898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2">
            <a:extLst>
              <a:ext uri="{FF2B5EF4-FFF2-40B4-BE49-F238E27FC236}">
                <a16:creationId xmlns:a16="http://schemas.microsoft.com/office/drawing/2014/main" id="{CFED02A5-BE99-4402-AD9E-CB6B0725809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FUNDAMENTOS DE SISTEMAS ELECTRÓNICOS ANALÓGICOS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D1FB5F7C-899A-4978-95FF-0445E89BF31C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249"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materia convierte señales físicas en decisiones de ingeniería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21AB8A24-8F98-435E-AFB4-6DB6FA84D4A7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52ED6C8D-5520-4695-AC03-8318A1334A13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urpose-lead">
            <a:extLst>
              <a:ext uri="{FF2B5EF4-FFF2-40B4-BE49-F238E27FC236}">
                <a16:creationId xmlns:a16="http://schemas.microsoft.com/office/drawing/2014/main" id="{558A394D-3501-41FF-85E5-0EF49B36E67C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6858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80"/>
          </a:bodyPr>
          <a:lstStyle/>
          <a:p>
            <a:pPr algn="l">
              <a:defRPr sz="24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Estudiaremos los bloques que polarizan, amplifican, filtran, generan y convierten señales analógicas.</a:t>
            </a:r>
          </a:p>
        </p:txBody>
      </p:sp>
      <p:sp>
        <p:nvSpPr>
          <p:cNvPr id="6" name="purpose-list">
            <a:extLst>
              <a:ext uri="{FF2B5EF4-FFF2-40B4-BE49-F238E27FC236}">
                <a16:creationId xmlns:a16="http://schemas.microsoft.com/office/drawing/2014/main" id="{4D3ACC4D-4911-4DC6-B9DD-3FC986FB877C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762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Diseñar con rango, ruido, tolerancias y temperatura.</a:t>
            </a:r>
          </a:p>
          <a:p>
            <a:pPr algn="l">
              <a:defRPr sz="18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Comprobar márgenes, disipación, protección y derating.</a:t>
            </a:r>
          </a:p>
          <a:p>
            <a:pPr algn="l">
              <a:defRPr sz="18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Sostener cada decisión con cálculo, simulación y medición.</a:t>
            </a:r>
          </a:p>
        </p:txBody>
      </p:sp>
      <p:sp>
        <p:nvSpPr>
          <p:cNvPr id="7" name="purpose-panel">
            <a:extLst>
              <a:ext uri="{FF2B5EF4-FFF2-40B4-BE49-F238E27FC236}">
                <a16:creationId xmlns:a16="http://schemas.microsoft.com/office/drawing/2014/main" id="{8EF9B609-FC76-4B16-B3F2-E16748D831F2}"/>
              </a:ext>
            </a:extLst>
          </p:cNvPr>
          <p:cNvSpPr>
            <a:spLocks noGrp="1"/>
          </p:cNvSpPr>
          <p:nvPr/>
        </p:nvSpPr>
        <p:spPr>
          <a:xfrm>
            <a:off x="7981950" y="1714500"/>
            <a:ext cx="3143250" cy="39433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purpose-question">
            <a:extLst>
              <a:ext uri="{FF2B5EF4-FFF2-40B4-BE49-F238E27FC236}">
                <a16:creationId xmlns:a16="http://schemas.microsoft.com/office/drawing/2014/main" id="{8962858A-6BFD-4984-AD59-086E5F6B9F50}"/>
              </a:ext>
            </a:extLst>
          </p:cNvPr>
          <p:cNvSpPr>
            <a:spLocks noGrp="1"/>
          </p:cNvSpPr>
          <p:nvPr/>
        </p:nvSpPr>
        <p:spPr>
          <a:xfrm>
            <a:off x="8305800" y="20764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Pregunta central</a:t>
            </a:r>
          </a:p>
        </p:txBody>
      </p:sp>
      <p:sp>
        <p:nvSpPr>
          <p:cNvPr id="9" name="purpose-main">
            <a:extLst>
              <a:ext uri="{FF2B5EF4-FFF2-40B4-BE49-F238E27FC236}">
                <a16:creationId xmlns:a16="http://schemas.microsoft.com/office/drawing/2014/main" id="{68F82704-AC45-45E9-B1A8-CF806D66E729}"/>
              </a:ext>
            </a:extLst>
          </p:cNvPr>
          <p:cNvSpPr>
            <a:spLocks noGrp="1"/>
          </p:cNvSpPr>
          <p:nvPr/>
        </p:nvSpPr>
        <p:spPr>
          <a:xfrm>
            <a:off x="8305800" y="2647950"/>
            <a:ext cx="24574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315"/>
          </a:bodyPr>
          <a:lstStyle/>
          <a:p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¿Cómo transformar una señal pequeña y vulnerable en información útil, medible y confiable?</a:t>
            </a:r>
          </a:p>
        </p:txBody>
      </p:sp>
      <p:sp>
        <p:nvSpPr>
          <p:cNvPr id="10" name="purpose-context">
            <a:extLst>
              <a:ext uri="{FF2B5EF4-FFF2-40B4-BE49-F238E27FC236}">
                <a16:creationId xmlns:a16="http://schemas.microsoft.com/office/drawing/2014/main" id="{81C4DC5F-CD6C-4089-8D64-9BE0C66ED9E7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Contexto: instrumentación aeroespacial de baja tensión</a:t>
            </a:r>
          </a:p>
        </p:txBody>
      </p:sp>
    </p:spTree>
    <p:extLst>
      <p:ext uri="{BB962C8B-B14F-4D97-AF65-F5344CB8AC3E}">
        <p14:creationId xmlns:p14="http://schemas.microsoft.com/office/powerpoint/2010/main" val="133879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3">
            <a:extLst>
              <a:ext uri="{FF2B5EF4-FFF2-40B4-BE49-F238E27FC236}">
                <a16:creationId xmlns:a16="http://schemas.microsoft.com/office/drawing/2014/main" id="{53D3F684-86B1-4F0C-AA13-9189B9E3FB4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FUNDAMENTOS DE SISTEMAS ELECTRÓNICOS ANALÓGICOS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12D2F034-9A1A-4F51-96BB-BC41F0CA63A0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551"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 finalizar, diseñarán y defenderán una cadena analógica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2E7FF375-0465-447B-ABCC-E59F0A43B036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F67A0581-B269-456A-AF16-A0056990AC3D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outcome-0">
            <a:extLst>
              <a:ext uri="{FF2B5EF4-FFF2-40B4-BE49-F238E27FC236}">
                <a16:creationId xmlns:a16="http://schemas.microsoft.com/office/drawing/2014/main" id="{90AC9555-D86C-474D-A692-5A88EEA3D140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5219700" cy="1619250"/>
          </a:xfrm>
          <a:prstGeom prst="roundRect">
            <a:avLst>
              <a:gd name="adj" fmla="val 3529"/>
            </a:avLst>
          </a:prstGeom>
          <a:solidFill>
            <a:srgbClr val="DCEEF7"/>
          </a:solidFill>
          <a:ln w="9525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outcome-n-0">
            <a:extLst>
              <a:ext uri="{FF2B5EF4-FFF2-40B4-BE49-F238E27FC236}">
                <a16:creationId xmlns:a16="http://schemas.microsoft.com/office/drawing/2014/main" id="{8B063C00-7A12-4808-8010-02774787BE99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outcome-h-0">
            <a:extLst>
              <a:ext uri="{FF2B5EF4-FFF2-40B4-BE49-F238E27FC236}">
                <a16:creationId xmlns:a16="http://schemas.microsoft.com/office/drawing/2014/main" id="{770CD026-2884-4A8F-9F65-7AD6889C9F7E}"/>
              </a:ext>
            </a:extLst>
          </p:cNvPr>
          <p:cNvSpPr>
            <a:spLocks noGrp="1"/>
          </p:cNvSpPr>
          <p:nvPr/>
        </p:nvSpPr>
        <p:spPr>
          <a:xfrm>
            <a:off x="1581150" y="199072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Polarizar</a:t>
            </a:r>
          </a:p>
        </p:txBody>
      </p:sp>
      <p:sp>
        <p:nvSpPr>
          <p:cNvPr id="8" name="outcome-b-0">
            <a:extLst>
              <a:ext uri="{FF2B5EF4-FFF2-40B4-BE49-F238E27FC236}">
                <a16:creationId xmlns:a16="http://schemas.microsoft.com/office/drawing/2014/main" id="{D04E8783-3AA2-4CCC-90AE-DA0AA955409D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464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Determinar puntos Q robustos para TBJ, JFET y MOSFET.</a:t>
            </a:r>
          </a:p>
        </p:txBody>
      </p:sp>
      <p:sp>
        <p:nvSpPr>
          <p:cNvPr id="9" name="outcome-1">
            <a:extLst>
              <a:ext uri="{FF2B5EF4-FFF2-40B4-BE49-F238E27FC236}">
                <a16:creationId xmlns:a16="http://schemas.microsoft.com/office/drawing/2014/main" id="{BDB82ECF-452B-4CB6-88D5-7DB1079B10AF}"/>
              </a:ext>
            </a:extLst>
          </p:cNvPr>
          <p:cNvSpPr>
            <a:spLocks noGrp="1"/>
          </p:cNvSpPr>
          <p:nvPr/>
        </p:nvSpPr>
        <p:spPr>
          <a:xfrm>
            <a:off x="6248400" y="1809750"/>
            <a:ext cx="5219700" cy="1619250"/>
          </a:xfrm>
          <a:prstGeom prst="roundRect">
            <a:avLst>
              <a:gd name="adj" fmla="val 3529"/>
            </a:avLst>
          </a:prstGeom>
          <a:solidFill>
            <a:srgbClr val="DCEEF7"/>
          </a:solidFill>
          <a:ln w="9525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outcome-n-1">
            <a:extLst>
              <a:ext uri="{FF2B5EF4-FFF2-40B4-BE49-F238E27FC236}">
                <a16:creationId xmlns:a16="http://schemas.microsoft.com/office/drawing/2014/main" id="{ACC3BB6A-7B7D-4C74-8DCF-E7B2E0932499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outcome-h-1">
            <a:extLst>
              <a:ext uri="{FF2B5EF4-FFF2-40B4-BE49-F238E27FC236}">
                <a16:creationId xmlns:a16="http://schemas.microsoft.com/office/drawing/2014/main" id="{89BCA01F-2809-4022-A701-D96C407162F1}"/>
              </a:ext>
            </a:extLst>
          </p:cNvPr>
          <p:cNvSpPr>
            <a:spLocks noGrp="1"/>
          </p:cNvSpPr>
          <p:nvPr/>
        </p:nvSpPr>
        <p:spPr>
          <a:xfrm>
            <a:off x="7239000" y="199072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Amplificar</a:t>
            </a:r>
          </a:p>
        </p:txBody>
      </p:sp>
      <p:sp>
        <p:nvSpPr>
          <p:cNvPr id="12" name="outcome-b-1">
            <a:extLst>
              <a:ext uri="{FF2B5EF4-FFF2-40B4-BE49-F238E27FC236}">
                <a16:creationId xmlns:a16="http://schemas.microsoft.com/office/drawing/2014/main" id="{8B9191A6-68F6-45BB-B9A3-F44F734324ED}"/>
              </a:ext>
            </a:extLst>
          </p:cNvPr>
          <p:cNvSpPr>
            <a:spLocks noGrp="1"/>
          </p:cNvSpPr>
          <p:nvPr/>
        </p:nvSpPr>
        <p:spPr>
          <a:xfrm>
            <a:off x="6477000" y="2552700"/>
            <a:ext cx="464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Analizar ganancia, impedancias, potencia, ancho de banda y saturación.</a:t>
            </a:r>
          </a:p>
        </p:txBody>
      </p:sp>
      <p:sp>
        <p:nvSpPr>
          <p:cNvPr id="13" name="outcome-2">
            <a:extLst>
              <a:ext uri="{FF2B5EF4-FFF2-40B4-BE49-F238E27FC236}">
                <a16:creationId xmlns:a16="http://schemas.microsoft.com/office/drawing/2014/main" id="{5128A681-873E-4CA1-ADC0-556FD822961C}"/>
              </a:ext>
            </a:extLst>
          </p:cNvPr>
          <p:cNvSpPr>
            <a:spLocks noGrp="1"/>
          </p:cNvSpPr>
          <p:nvPr/>
        </p:nvSpPr>
        <p:spPr>
          <a:xfrm>
            <a:off x="590550" y="3790950"/>
            <a:ext cx="5219700" cy="1619250"/>
          </a:xfrm>
          <a:prstGeom prst="roundRect">
            <a:avLst>
              <a:gd name="adj" fmla="val 3529"/>
            </a:avLst>
          </a:prstGeom>
          <a:solidFill>
            <a:srgbClr val="EEF1F4"/>
          </a:solidFill>
          <a:ln w="9525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outcome-n-2">
            <a:extLst>
              <a:ext uri="{FF2B5EF4-FFF2-40B4-BE49-F238E27FC236}">
                <a16:creationId xmlns:a16="http://schemas.microsoft.com/office/drawing/2014/main" id="{B01E642A-4D7B-40F8-9725-C43550FA4A72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outcome-h-2">
            <a:extLst>
              <a:ext uri="{FF2B5EF4-FFF2-40B4-BE49-F238E27FC236}">
                <a16:creationId xmlns:a16="http://schemas.microsoft.com/office/drawing/2014/main" id="{A1E8FF5F-B432-4034-88D2-FC8345D94AD9}"/>
              </a:ext>
            </a:extLst>
          </p:cNvPr>
          <p:cNvSpPr>
            <a:spLocks noGrp="1"/>
          </p:cNvSpPr>
          <p:nvPr/>
        </p:nvSpPr>
        <p:spPr>
          <a:xfrm>
            <a:off x="1581150" y="397192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Filtrar y convertir</a:t>
            </a:r>
          </a:p>
        </p:txBody>
      </p:sp>
      <p:sp>
        <p:nvSpPr>
          <p:cNvPr id="16" name="outcome-b-2">
            <a:extLst>
              <a:ext uri="{FF2B5EF4-FFF2-40B4-BE49-F238E27FC236}">
                <a16:creationId xmlns:a16="http://schemas.microsoft.com/office/drawing/2014/main" id="{D74EB3C5-9395-4325-B1D6-90D26D1BA036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464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Traducir especificaciones a osciladores, filtros, ADC y DAC.</a:t>
            </a:r>
          </a:p>
        </p:txBody>
      </p:sp>
      <p:sp>
        <p:nvSpPr>
          <p:cNvPr id="17" name="outcome-3">
            <a:extLst>
              <a:ext uri="{FF2B5EF4-FFF2-40B4-BE49-F238E27FC236}">
                <a16:creationId xmlns:a16="http://schemas.microsoft.com/office/drawing/2014/main" id="{8F2B13F9-7DBF-4F5D-8CDE-F08AD0FD583A}"/>
              </a:ext>
            </a:extLst>
          </p:cNvPr>
          <p:cNvSpPr>
            <a:spLocks noGrp="1"/>
          </p:cNvSpPr>
          <p:nvPr/>
        </p:nvSpPr>
        <p:spPr>
          <a:xfrm>
            <a:off x="6248400" y="3790950"/>
            <a:ext cx="5219700" cy="1619250"/>
          </a:xfrm>
          <a:prstGeom prst="roundRect">
            <a:avLst>
              <a:gd name="adj" fmla="val 3529"/>
            </a:avLst>
          </a:prstGeom>
          <a:solidFill>
            <a:srgbClr val="EEF1F4"/>
          </a:solidFill>
          <a:ln w="9525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outcome-n-3">
            <a:extLst>
              <a:ext uri="{FF2B5EF4-FFF2-40B4-BE49-F238E27FC236}">
                <a16:creationId xmlns:a16="http://schemas.microsoft.com/office/drawing/2014/main" id="{7C5CB28D-9D6B-46B2-B81C-C63956DD9D25}"/>
              </a:ext>
            </a:extLst>
          </p:cNvPr>
          <p:cNvSpPr>
            <a:spLocks noGrp="1"/>
          </p:cNvSpPr>
          <p:nvPr/>
        </p:nvSpPr>
        <p:spPr>
          <a:xfrm>
            <a:off x="6477000" y="39814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outcome-h-3">
            <a:extLst>
              <a:ext uri="{FF2B5EF4-FFF2-40B4-BE49-F238E27FC236}">
                <a16:creationId xmlns:a16="http://schemas.microsoft.com/office/drawing/2014/main" id="{E2D2B181-21EC-4A44-A8BD-D2313FAE12B5}"/>
              </a:ext>
            </a:extLst>
          </p:cNvPr>
          <p:cNvSpPr>
            <a:spLocks noGrp="1"/>
          </p:cNvSpPr>
          <p:nvPr/>
        </p:nvSpPr>
        <p:spPr>
          <a:xfrm>
            <a:off x="7239000" y="397192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Verificar</a:t>
            </a:r>
          </a:p>
        </p:txBody>
      </p:sp>
      <p:sp>
        <p:nvSpPr>
          <p:cNvPr id="20" name="outcome-b-3">
            <a:extLst>
              <a:ext uri="{FF2B5EF4-FFF2-40B4-BE49-F238E27FC236}">
                <a16:creationId xmlns:a16="http://schemas.microsoft.com/office/drawing/2014/main" id="{006B9B07-CB6A-433C-B4E4-ED6CA606E9A2}"/>
              </a:ext>
            </a:extLst>
          </p:cNvPr>
          <p:cNvSpPr>
            <a:spLocks noGrp="1"/>
          </p:cNvSpPr>
          <p:nvPr/>
        </p:nvSpPr>
        <p:spPr>
          <a:xfrm>
            <a:off x="6477000" y="4533900"/>
            <a:ext cx="464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Comparar teoría, SPICE y medición con trazabilidad y criterio.</a:t>
            </a:r>
          </a:p>
        </p:txBody>
      </p:sp>
    </p:spTree>
    <p:extLst>
      <p:ext uri="{BB962C8B-B14F-4D97-AF65-F5344CB8AC3E}">
        <p14:creationId xmlns:p14="http://schemas.microsoft.com/office/powerpoint/2010/main" val="106919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4">
            <a:extLst>
              <a:ext uri="{FF2B5EF4-FFF2-40B4-BE49-F238E27FC236}">
                <a16:creationId xmlns:a16="http://schemas.microsoft.com/office/drawing/2014/main" id="{9405CEE4-8912-4BFB-BAF1-6597AC2DF35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FUNDAMENTOS DE SISTEMAS ELECTRÓNICOS ANALÓGICOS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074900B-81F9-4DD3-B90D-CDF3ECD2E7DD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tema recorre el mismo ciclo de ingeniería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9E89AB6F-E0A1-43E4-A776-71A8547E9A63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97B38927-3296-4CAB-B016-DFAE5D5483FC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15884" r="15884"/>
          <a:stretch>
            <a:fillRect/>
          </a:stretch>
        </p:blipFill>
        <p:spPr>
          <a:xfrm>
            <a:off x="5905500" y="1714500"/>
            <a:ext cx="5753100" cy="4000500"/>
          </a:xfrm>
          <a:prstGeom prst="rect">
            <a:avLst/>
          </a:prstGeom>
        </p:spPr>
      </p:pic>
      <p:sp>
        <p:nvSpPr>
          <p:cNvPr id="6" name="loop-n-0">
            <a:extLst>
              <a:ext uri="{FF2B5EF4-FFF2-40B4-BE49-F238E27FC236}">
                <a16:creationId xmlns:a16="http://schemas.microsoft.com/office/drawing/2014/main" id="{252919E9-A54E-4FB1-93DD-BA07D05C0D1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loop-num-0">
            <a:extLst>
              <a:ext uri="{FF2B5EF4-FFF2-40B4-BE49-F238E27FC236}">
                <a16:creationId xmlns:a16="http://schemas.microsoft.com/office/drawing/2014/main" id="{13E24952-B609-4F25-9ACD-0451DF85FEDF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loop-head-0">
            <a:extLst>
              <a:ext uri="{FF2B5EF4-FFF2-40B4-BE49-F238E27FC236}">
                <a16:creationId xmlns:a16="http://schemas.microsoft.com/office/drawing/2014/main" id="{92EE4A69-E338-4320-9727-7AB641F6069F}"/>
              </a:ext>
            </a:extLst>
          </p:cNvPr>
          <p:cNvSpPr>
            <a:spLocks noGrp="1"/>
          </p:cNvSpPr>
          <p:nvPr/>
        </p:nvSpPr>
        <p:spPr>
          <a:xfrm>
            <a:off x="1352550" y="18097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Predecir</a:t>
            </a:r>
          </a:p>
        </p:txBody>
      </p:sp>
      <p:sp>
        <p:nvSpPr>
          <p:cNvPr id="9" name="loop-body-0">
            <a:extLst>
              <a:ext uri="{FF2B5EF4-FFF2-40B4-BE49-F238E27FC236}">
                <a16:creationId xmlns:a16="http://schemas.microsoft.com/office/drawing/2014/main" id="{09E055CF-DB64-4C68-B899-B8BE3085407B}"/>
              </a:ext>
            </a:extLst>
          </p:cNvPr>
          <p:cNvSpPr>
            <a:spLocks noGrp="1"/>
          </p:cNvSpPr>
          <p:nvPr/>
        </p:nvSpPr>
        <p:spPr>
          <a:xfrm>
            <a:off x="1352550" y="2257425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Modelo, supuestos, unidades y márgenes.</a:t>
            </a:r>
          </a:p>
        </p:txBody>
      </p:sp>
      <p:sp>
        <p:nvSpPr>
          <p:cNvPr id="10" name="loop-n-1">
            <a:extLst>
              <a:ext uri="{FF2B5EF4-FFF2-40B4-BE49-F238E27FC236}">
                <a16:creationId xmlns:a16="http://schemas.microsoft.com/office/drawing/2014/main" id="{AECD21AF-6A4B-4E4E-BAF1-0110C456E0D4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loop-num-1">
            <a:extLst>
              <a:ext uri="{FF2B5EF4-FFF2-40B4-BE49-F238E27FC236}">
                <a16:creationId xmlns:a16="http://schemas.microsoft.com/office/drawing/2014/main" id="{FCD6B634-7674-4358-97C3-8507B0A46BDE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loop-head-1">
            <a:extLst>
              <a:ext uri="{FF2B5EF4-FFF2-40B4-BE49-F238E27FC236}">
                <a16:creationId xmlns:a16="http://schemas.microsoft.com/office/drawing/2014/main" id="{D403A5E7-BE5F-4827-B342-5D31657F1F1D}"/>
              </a:ext>
            </a:extLst>
          </p:cNvPr>
          <p:cNvSpPr>
            <a:spLocks noGrp="1"/>
          </p:cNvSpPr>
          <p:nvPr/>
        </p:nvSpPr>
        <p:spPr>
          <a:xfrm>
            <a:off x="1352550" y="311467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Simular</a:t>
            </a:r>
          </a:p>
        </p:txBody>
      </p:sp>
      <p:sp>
        <p:nvSpPr>
          <p:cNvPr id="13" name="loop-body-1">
            <a:extLst>
              <a:ext uri="{FF2B5EF4-FFF2-40B4-BE49-F238E27FC236}">
                <a16:creationId xmlns:a16="http://schemas.microsoft.com/office/drawing/2014/main" id="{98B22DBF-7880-43FD-B976-C8210E7955B9}"/>
              </a:ext>
            </a:extLst>
          </p:cNvPr>
          <p:cNvSpPr>
            <a:spLocks noGrp="1"/>
          </p:cNvSpPr>
          <p:nvPr/>
        </p:nvSpPr>
        <p:spPr>
          <a:xfrm>
            <a:off x="1352550" y="356235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Barridos, tolerancias, transitorios y peor caso.</a:t>
            </a:r>
          </a:p>
        </p:txBody>
      </p:sp>
      <p:sp>
        <p:nvSpPr>
          <p:cNvPr id="14" name="loop-n-2">
            <a:extLst>
              <a:ext uri="{FF2B5EF4-FFF2-40B4-BE49-F238E27FC236}">
                <a16:creationId xmlns:a16="http://schemas.microsoft.com/office/drawing/2014/main" id="{D3BEB953-0EAA-474F-87FF-3CC9347FE74F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loop-num-2">
            <a:extLst>
              <a:ext uri="{FF2B5EF4-FFF2-40B4-BE49-F238E27FC236}">
                <a16:creationId xmlns:a16="http://schemas.microsoft.com/office/drawing/2014/main" id="{A0ED9DE2-00A2-41F0-9CF4-493D9930697B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loop-head-2">
            <a:extLst>
              <a:ext uri="{FF2B5EF4-FFF2-40B4-BE49-F238E27FC236}">
                <a16:creationId xmlns:a16="http://schemas.microsoft.com/office/drawing/2014/main" id="{D8916CB3-31B4-424C-9F2F-B335CD7A2BC7}"/>
              </a:ext>
            </a:extLst>
          </p:cNvPr>
          <p:cNvSpPr>
            <a:spLocks noGrp="1"/>
          </p:cNvSpPr>
          <p:nvPr/>
        </p:nvSpPr>
        <p:spPr>
          <a:xfrm>
            <a:off x="1352550" y="44196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17" name="loop-body-2">
            <a:extLst>
              <a:ext uri="{FF2B5EF4-FFF2-40B4-BE49-F238E27FC236}">
                <a16:creationId xmlns:a16="http://schemas.microsoft.com/office/drawing/2014/main" id="{365E0C9D-07EC-46AA-8915-7D5AAD97D14E}"/>
              </a:ext>
            </a:extLst>
          </p:cNvPr>
          <p:cNvSpPr>
            <a:spLocks noGrp="1"/>
          </p:cNvSpPr>
          <p:nvPr/>
        </p:nvSpPr>
        <p:spPr>
          <a:xfrm>
            <a:off x="1352550" y="4867275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 crudos, incertidumbre y explicación de diferencias.</a:t>
            </a:r>
          </a:p>
        </p:txBody>
      </p:sp>
    </p:spTree>
    <p:extLst>
      <p:ext uri="{BB962C8B-B14F-4D97-AF65-F5344CB8AC3E}">
        <p14:creationId xmlns:p14="http://schemas.microsoft.com/office/powerpoint/2010/main" val="51951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5">
            <a:extLst>
              <a:ext uri="{FF2B5EF4-FFF2-40B4-BE49-F238E27FC236}">
                <a16:creationId xmlns:a16="http://schemas.microsoft.com/office/drawing/2014/main" id="{03A55EB0-644A-4305-9C86-09EB6E4511F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FUNDAMENTOS DE SISTEMAS ELECTRÓNICOS ANALÓGICOS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8F986B81-2815-41EB-ADEB-97F676B1634F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Siete unidades construyen la cadena de señal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1D88535D-DBD8-4C54-B9E8-D6346E7AC91C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51BCA2DE-3589-4C15-B19B-089609367D8B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rcRect t="29352" b="29352"/>
          <a:stretch>
            <a:fillRect/>
          </a:stretch>
        </p:blipFill>
        <p:spPr>
          <a:xfrm>
            <a:off x="514350" y="1600200"/>
            <a:ext cx="11163300" cy="2305050"/>
          </a:xfrm>
          <a:prstGeom prst="rect">
            <a:avLst/>
          </a:prstGeom>
        </p:spPr>
      </p:pic>
      <p:sp>
        <p:nvSpPr>
          <p:cNvPr id="6" name="unit-line-0">
            <a:extLst>
              <a:ext uri="{FF2B5EF4-FFF2-40B4-BE49-F238E27FC236}">
                <a16:creationId xmlns:a16="http://schemas.microsoft.com/office/drawing/2014/main" id="{50C0817B-FB80-499A-9295-0EC450E64091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1495425" cy="4762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unit-no-0">
            <a:extLst>
              <a:ext uri="{FF2B5EF4-FFF2-40B4-BE49-F238E27FC236}">
                <a16:creationId xmlns:a16="http://schemas.microsoft.com/office/drawing/2014/main" id="{0019ABD4-2CED-4FFE-B302-7702003AA8A0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unit-name-0">
            <a:extLst>
              <a:ext uri="{FF2B5EF4-FFF2-40B4-BE49-F238E27FC236}">
                <a16:creationId xmlns:a16="http://schemas.microsoft.com/office/drawing/2014/main" id="{1FDE221B-C1D7-4723-A330-65CFC0777BA8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Polarización</a:t>
            </a:r>
          </a:p>
        </p:txBody>
      </p:sp>
      <p:sp>
        <p:nvSpPr>
          <p:cNvPr id="9" name="unit-line-1">
            <a:extLst>
              <a:ext uri="{FF2B5EF4-FFF2-40B4-BE49-F238E27FC236}">
                <a16:creationId xmlns:a16="http://schemas.microsoft.com/office/drawing/2014/main" id="{3D724F3F-3A2D-41B5-9F3A-16676EA52F21}"/>
              </a:ext>
            </a:extLst>
          </p:cNvPr>
          <p:cNvSpPr>
            <a:spLocks noGrp="1"/>
          </p:cNvSpPr>
          <p:nvPr/>
        </p:nvSpPr>
        <p:spPr>
          <a:xfrm>
            <a:off x="2133600" y="4219575"/>
            <a:ext cx="1495425" cy="4762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unit-no-1">
            <a:extLst>
              <a:ext uri="{FF2B5EF4-FFF2-40B4-BE49-F238E27FC236}">
                <a16:creationId xmlns:a16="http://schemas.microsoft.com/office/drawing/2014/main" id="{2E696932-A6B4-481B-8FDC-73A1A96414BA}"/>
              </a:ext>
            </a:extLst>
          </p:cNvPr>
          <p:cNvSpPr>
            <a:spLocks noGrp="1"/>
          </p:cNvSpPr>
          <p:nvPr/>
        </p:nvSpPr>
        <p:spPr>
          <a:xfrm>
            <a:off x="213360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unit-name-1">
            <a:extLst>
              <a:ext uri="{FF2B5EF4-FFF2-40B4-BE49-F238E27FC236}">
                <a16:creationId xmlns:a16="http://schemas.microsoft.com/office/drawing/2014/main" id="{C49C0A14-52CE-41F0-BDAB-2625C7B4D062}"/>
              </a:ext>
            </a:extLst>
          </p:cNvPr>
          <p:cNvSpPr>
            <a:spLocks noGrp="1"/>
          </p:cNvSpPr>
          <p:nvPr/>
        </p:nvSpPr>
        <p:spPr>
          <a:xfrm>
            <a:off x="213360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Amplificación</a:t>
            </a:r>
          </a:p>
        </p:txBody>
      </p:sp>
      <p:sp>
        <p:nvSpPr>
          <p:cNvPr id="12" name="unit-line-2">
            <a:extLst>
              <a:ext uri="{FF2B5EF4-FFF2-40B4-BE49-F238E27FC236}">
                <a16:creationId xmlns:a16="http://schemas.microsoft.com/office/drawing/2014/main" id="{33E90639-D537-49EF-99A9-EDC540FC6DEF}"/>
              </a:ext>
            </a:extLst>
          </p:cNvPr>
          <p:cNvSpPr>
            <a:spLocks noGrp="1"/>
          </p:cNvSpPr>
          <p:nvPr/>
        </p:nvSpPr>
        <p:spPr>
          <a:xfrm>
            <a:off x="3714750" y="4219575"/>
            <a:ext cx="1495425" cy="4762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unit-no-2">
            <a:extLst>
              <a:ext uri="{FF2B5EF4-FFF2-40B4-BE49-F238E27FC236}">
                <a16:creationId xmlns:a16="http://schemas.microsoft.com/office/drawing/2014/main" id="{64D34C0B-2AB2-464C-B324-AA31434C879D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unit-name-2">
            <a:extLst>
              <a:ext uri="{FF2B5EF4-FFF2-40B4-BE49-F238E27FC236}">
                <a16:creationId xmlns:a16="http://schemas.microsoft.com/office/drawing/2014/main" id="{D0C6FB13-C1E0-42BA-94F6-8BCD3A912586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Potencia</a:t>
            </a:r>
          </a:p>
        </p:txBody>
      </p:sp>
      <p:sp>
        <p:nvSpPr>
          <p:cNvPr id="15" name="unit-line-3">
            <a:extLst>
              <a:ext uri="{FF2B5EF4-FFF2-40B4-BE49-F238E27FC236}">
                <a16:creationId xmlns:a16="http://schemas.microsoft.com/office/drawing/2014/main" id="{86487234-1CCF-48A5-BE5F-6632AC28C4E9}"/>
              </a:ext>
            </a:extLst>
          </p:cNvPr>
          <p:cNvSpPr>
            <a:spLocks noGrp="1"/>
          </p:cNvSpPr>
          <p:nvPr/>
        </p:nvSpPr>
        <p:spPr>
          <a:xfrm>
            <a:off x="5295900" y="4219575"/>
            <a:ext cx="1495425" cy="47625"/>
          </a:xfrm>
          <a:prstGeom prst="rect">
            <a:avLst/>
          </a:prstGeom>
          <a:solidFill>
            <a:srgbClr val="2E8BC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unit-no-3">
            <a:extLst>
              <a:ext uri="{FF2B5EF4-FFF2-40B4-BE49-F238E27FC236}">
                <a16:creationId xmlns:a16="http://schemas.microsoft.com/office/drawing/2014/main" id="{AE4D25D2-2DCF-4FD0-890B-C127877F551C}"/>
              </a:ext>
            </a:extLst>
          </p:cNvPr>
          <p:cNvSpPr>
            <a:spLocks noGrp="1"/>
          </p:cNvSpPr>
          <p:nvPr/>
        </p:nvSpPr>
        <p:spPr>
          <a:xfrm>
            <a:off x="529590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unit-name-3">
            <a:extLst>
              <a:ext uri="{FF2B5EF4-FFF2-40B4-BE49-F238E27FC236}">
                <a16:creationId xmlns:a16="http://schemas.microsoft.com/office/drawing/2014/main" id="{CFFB491C-CFBB-445F-80C9-66B3628E39D7}"/>
              </a:ext>
            </a:extLst>
          </p:cNvPr>
          <p:cNvSpPr>
            <a:spLocks noGrp="1"/>
          </p:cNvSpPr>
          <p:nvPr/>
        </p:nvSpPr>
        <p:spPr>
          <a:xfrm>
            <a:off x="529590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Osciladores</a:t>
            </a:r>
          </a:p>
        </p:txBody>
      </p:sp>
      <p:sp>
        <p:nvSpPr>
          <p:cNvPr id="18" name="unit-line-4">
            <a:extLst>
              <a:ext uri="{FF2B5EF4-FFF2-40B4-BE49-F238E27FC236}">
                <a16:creationId xmlns:a16="http://schemas.microsoft.com/office/drawing/2014/main" id="{42C70B64-960C-4EA6-83DF-DBBF27A1BF89}"/>
              </a:ext>
            </a:extLst>
          </p:cNvPr>
          <p:cNvSpPr>
            <a:spLocks noGrp="1"/>
          </p:cNvSpPr>
          <p:nvPr/>
        </p:nvSpPr>
        <p:spPr>
          <a:xfrm>
            <a:off x="6877050" y="4219575"/>
            <a:ext cx="1495425" cy="47625"/>
          </a:xfrm>
          <a:prstGeom prst="rect">
            <a:avLst/>
          </a:prstGeom>
          <a:solidFill>
            <a:srgbClr val="2E8BC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unit-no-4">
            <a:extLst>
              <a:ext uri="{FF2B5EF4-FFF2-40B4-BE49-F238E27FC236}">
                <a16:creationId xmlns:a16="http://schemas.microsoft.com/office/drawing/2014/main" id="{791DE0E6-27E5-4B24-9E18-5BEA09227C93}"/>
              </a:ext>
            </a:extLst>
          </p:cNvPr>
          <p:cNvSpPr>
            <a:spLocks noGrp="1"/>
          </p:cNvSpPr>
          <p:nvPr/>
        </p:nvSpPr>
        <p:spPr>
          <a:xfrm>
            <a:off x="687705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unit-name-4">
            <a:extLst>
              <a:ext uri="{FF2B5EF4-FFF2-40B4-BE49-F238E27FC236}">
                <a16:creationId xmlns:a16="http://schemas.microsoft.com/office/drawing/2014/main" id="{F3F3A865-0964-425A-A96E-84676CEEB9C4}"/>
              </a:ext>
            </a:extLst>
          </p:cNvPr>
          <p:cNvSpPr>
            <a:spLocks noGrp="1"/>
          </p:cNvSpPr>
          <p:nvPr/>
        </p:nvSpPr>
        <p:spPr>
          <a:xfrm>
            <a:off x="687705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Op-amps</a:t>
            </a:r>
          </a:p>
        </p:txBody>
      </p:sp>
      <p:sp>
        <p:nvSpPr>
          <p:cNvPr id="21" name="unit-line-5">
            <a:extLst>
              <a:ext uri="{FF2B5EF4-FFF2-40B4-BE49-F238E27FC236}">
                <a16:creationId xmlns:a16="http://schemas.microsoft.com/office/drawing/2014/main" id="{50DCCB84-2CA9-4190-93E7-873AB45A60C6}"/>
              </a:ext>
            </a:extLst>
          </p:cNvPr>
          <p:cNvSpPr>
            <a:spLocks noGrp="1"/>
          </p:cNvSpPr>
          <p:nvPr/>
        </p:nvSpPr>
        <p:spPr>
          <a:xfrm>
            <a:off x="8458200" y="4219575"/>
            <a:ext cx="1495425" cy="47625"/>
          </a:xfrm>
          <a:prstGeom prst="rect">
            <a:avLst/>
          </a:prstGeom>
          <a:solidFill>
            <a:srgbClr val="2E8BC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unit-no-5">
            <a:extLst>
              <a:ext uri="{FF2B5EF4-FFF2-40B4-BE49-F238E27FC236}">
                <a16:creationId xmlns:a16="http://schemas.microsoft.com/office/drawing/2014/main" id="{C1C0AEA5-ED0F-4890-8661-AA30EEF1BA2E}"/>
              </a:ext>
            </a:extLst>
          </p:cNvPr>
          <p:cNvSpPr>
            <a:spLocks noGrp="1"/>
          </p:cNvSpPr>
          <p:nvPr/>
        </p:nvSpPr>
        <p:spPr>
          <a:xfrm>
            <a:off x="845820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unit-name-5">
            <a:extLst>
              <a:ext uri="{FF2B5EF4-FFF2-40B4-BE49-F238E27FC236}">
                <a16:creationId xmlns:a16="http://schemas.microsoft.com/office/drawing/2014/main" id="{37472467-0EB1-4FA1-B860-92BBD8B9E32B}"/>
              </a:ext>
            </a:extLst>
          </p:cNvPr>
          <p:cNvSpPr>
            <a:spLocks noGrp="1"/>
          </p:cNvSpPr>
          <p:nvPr/>
        </p:nvSpPr>
        <p:spPr>
          <a:xfrm>
            <a:off x="845820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Filtros</a:t>
            </a:r>
          </a:p>
        </p:txBody>
      </p:sp>
      <p:sp>
        <p:nvSpPr>
          <p:cNvPr id="24" name="unit-line-6">
            <a:extLst>
              <a:ext uri="{FF2B5EF4-FFF2-40B4-BE49-F238E27FC236}">
                <a16:creationId xmlns:a16="http://schemas.microsoft.com/office/drawing/2014/main" id="{6E9C05AD-E7A3-4740-A3A4-06204CA2CC1C}"/>
              </a:ext>
            </a:extLst>
          </p:cNvPr>
          <p:cNvSpPr>
            <a:spLocks noGrp="1"/>
          </p:cNvSpPr>
          <p:nvPr/>
        </p:nvSpPr>
        <p:spPr>
          <a:xfrm>
            <a:off x="10039350" y="4219575"/>
            <a:ext cx="1495425" cy="47625"/>
          </a:xfrm>
          <a:prstGeom prst="rect">
            <a:avLst/>
          </a:prstGeom>
          <a:solidFill>
            <a:srgbClr val="2E8BC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unit-no-6">
            <a:extLst>
              <a:ext uri="{FF2B5EF4-FFF2-40B4-BE49-F238E27FC236}">
                <a16:creationId xmlns:a16="http://schemas.microsoft.com/office/drawing/2014/main" id="{AC8C3A22-1FE3-47F2-9342-B0D2499E94DE}"/>
              </a:ext>
            </a:extLst>
          </p:cNvPr>
          <p:cNvSpPr>
            <a:spLocks noGrp="1"/>
          </p:cNvSpPr>
          <p:nvPr/>
        </p:nvSpPr>
        <p:spPr>
          <a:xfrm>
            <a:off x="10039350" y="4438650"/>
            <a:ext cx="1495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unit-name-6">
            <a:extLst>
              <a:ext uri="{FF2B5EF4-FFF2-40B4-BE49-F238E27FC236}">
                <a16:creationId xmlns:a16="http://schemas.microsoft.com/office/drawing/2014/main" id="{9D310D6F-CD94-46FC-9A2B-C70FF7C63541}"/>
              </a:ext>
            </a:extLst>
          </p:cNvPr>
          <p:cNvSpPr>
            <a:spLocks noGrp="1"/>
          </p:cNvSpPr>
          <p:nvPr/>
        </p:nvSpPr>
        <p:spPr>
          <a:xfrm>
            <a:off x="10039350" y="4762500"/>
            <a:ext cx="14954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ADC / DAC</a:t>
            </a:r>
          </a:p>
        </p:txBody>
      </p:sp>
      <p:sp>
        <p:nvSpPr>
          <p:cNvPr id="27" name="unit-total">
            <a:extLst>
              <a:ext uri="{FF2B5EF4-FFF2-40B4-BE49-F238E27FC236}">
                <a16:creationId xmlns:a16="http://schemas.microsoft.com/office/drawing/2014/main" id="{895C4573-0C06-4DD9-8FA8-7789F6683B64}"/>
              </a:ext>
            </a:extLst>
          </p:cNvPr>
          <p:cNvSpPr>
            <a:spLocks noGrp="1"/>
          </p:cNvSpPr>
          <p:nvPr/>
        </p:nvSpPr>
        <p:spPr>
          <a:xfrm>
            <a:off x="552450" y="5876925"/>
            <a:ext cx="1106424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64 h teoría · 32 h práctica · 96 h  ·  Semanas 1–2 diagnostican antes de la Unidad I</a:t>
            </a:r>
          </a:p>
        </p:txBody>
      </p:sp>
    </p:spTree>
    <p:extLst>
      <p:ext uri="{BB962C8B-B14F-4D97-AF65-F5344CB8AC3E}">
        <p14:creationId xmlns:p14="http://schemas.microsoft.com/office/powerpoint/2010/main" val="33683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6">
            <a:extLst>
              <a:ext uri="{FF2B5EF4-FFF2-40B4-BE49-F238E27FC236}">
                <a16:creationId xmlns:a16="http://schemas.microsoft.com/office/drawing/2014/main" id="{BD6422D8-F1C7-499F-9935-974F9092C0C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RUTA TEMÁTICA · 16 SEMANAS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604A3C1C-0DA1-41A8-A180-9B5A5AD19492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794"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Semanas 1–4: del circuito resistivo al punto de operación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FE56B86C-AF6E-43DA-B7AE-79AF0CED32A5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D98275A1-15C5-4DE9-8FB7-8D4F2A901391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oad-sub-6">
            <a:extLst>
              <a:ext uri="{FF2B5EF4-FFF2-40B4-BE49-F238E27FC236}">
                <a16:creationId xmlns:a16="http://schemas.microsoft.com/office/drawing/2014/main" id="{858DCB3E-852E-42EC-B188-B6AA4CA54084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 de agosto–13 de septiembre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552450" y="2076450"/>
          <a:ext cx="11087100" cy="363855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Práctica central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Diagnóstico y base eléctrica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Red resistiva segura y derating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Tabla V–I–P y margen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Divisores, puentes y Thévenin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Sensor resistivo y error por carga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Modelo de interfaz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Polarización TBJ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Barrido β–temperatura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Polarización con margen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Polarización JFET / MOSFET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Conmutación segura de baja tensión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Selección y tabla de estrés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30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7">
            <a:extLst>
              <a:ext uri="{FF2B5EF4-FFF2-40B4-BE49-F238E27FC236}">
                <a16:creationId xmlns:a16="http://schemas.microsoft.com/office/drawing/2014/main" id="{D998BA78-0982-4A08-A393-11CB841553B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RUTA TEMÁTICA · 16 SEMANAS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9D6B06C8-3BE1-4E2C-BDDE-6AE5532E9C32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Semanas 5–8: amplificación, potencia y protección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C4E6523F-D90F-42E0-885D-C1957D91D77B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BEA72F35-4FC2-4D61-98FD-744D4E21C78E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oad-sub-7">
            <a:extLst>
              <a:ext uri="{FF2B5EF4-FFF2-40B4-BE49-F238E27FC236}">
                <a16:creationId xmlns:a16="http://schemas.microsoft.com/office/drawing/2014/main" id="{D52ABFBA-C1AB-45FA-8E3B-CD027AE47098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 de septiembre–11 de octubre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552450" y="2076450"/>
          <a:ext cx="11087100" cy="363855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Práctica central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Amplificador de una 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Emisor o fuente común +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Ganancia y punto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Cascada, Darlington y diferencial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Comparar una y dos etapas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Impedancias y saturación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Potencia I: clases A, B y 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Push-pull de baja potencia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Eficiencia y temperatura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Potencia II y protección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Driver de carga inductiva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Transitorio con/sin flyback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2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8">
            <a:extLst>
              <a:ext uri="{FF2B5EF4-FFF2-40B4-BE49-F238E27FC236}">
                <a16:creationId xmlns:a16="http://schemas.microsoft.com/office/drawing/2014/main" id="{93433DD9-2A5D-4838-91CD-0164C45E1BE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RUTA TEMÁTICA · 16 SEMANAS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A9300062-F83A-4296-B096-7EE27DF8FE09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Semanas 9–12: oscilación, op-amps y filtros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63A7D76F-8DAF-4FE7-9F2E-639B7D628817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4209BD3C-8428-43EE-9A18-0CE4E96D053D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oad-sub-8">
            <a:extLst>
              <a:ext uri="{FF2B5EF4-FFF2-40B4-BE49-F238E27FC236}">
                <a16:creationId xmlns:a16="http://schemas.microsoft.com/office/drawing/2014/main" id="{4A1BE3C6-7E41-48BB-BF4A-AA91FE26D2D6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 de octubre–8 de noviembre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552450" y="2076450"/>
          <a:ext cx="11087100" cy="363855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Práctica central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Osciladores electrónicos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RC/LC y condición de arranque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Frecuencia y margen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Op-amps reales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Inversor / no inversor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GBW, slew y saturación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Op-amps II e instrumentación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Acondicionar un puente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CMRR, ruido y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Filtros activos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Paso bajas de segundo orden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Bode vs. especificación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18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9">
            <a:extLst>
              <a:ext uri="{FF2B5EF4-FFF2-40B4-BE49-F238E27FC236}">
                <a16:creationId xmlns:a16="http://schemas.microsoft.com/office/drawing/2014/main" id="{7D7730DA-4586-42B7-94A1-CF25A582844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RUTA TEMÁTICA · 16 SEMANAS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1D3553A3-D1C4-4DBC-9AFE-07D17DDCF72A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Semanas 13–16: conversión y proyecto integrador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37860E33-59FC-4C62-9B1C-0761C4AA4EE0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1CE306F7-08DA-418F-A08D-EA9FEA093155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oad-sub-9">
            <a:extLst>
              <a:ext uri="{FF2B5EF4-FFF2-40B4-BE49-F238E27FC236}">
                <a16:creationId xmlns:a16="http://schemas.microsoft.com/office/drawing/2014/main" id="{367EA578-8ED5-4E85-A350-BC3BFBF8EFF8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9 de noviembre–6 de diciembre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552450" y="2076450"/>
          <a:ext cx="11087100" cy="363855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Práctica central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Filtros II y anti-alias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 para ADC y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Margen de tolerancia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Conversión D/A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DAC R–2R de cuatro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Código–salida–error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Conversión A/D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Sensor, filtro y 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Cadena dimensionada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Proyecto integrador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Prueba de aceptación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Dossier y defensa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3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10">
            <a:extLst>
              <a:ext uri="{FF2B5EF4-FFF2-40B4-BE49-F238E27FC236}">
                <a16:creationId xmlns:a16="http://schemas.microsoft.com/office/drawing/2014/main" id="{D73D7B62-DE36-423B-BA56-393DD2B4E69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0F3D6826-EDAA-46F8-B277-3F7297AB5373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calificación privilegia evidencia verificable</a:t>
            </a:r>
          </a:p>
        </p:txBody>
      </p:sp>
      <p:sp>
        <p:nvSpPr>
          <p:cNvPr id="3" name="rule-10">
            <a:extLst>
              <a:ext uri="{FF2B5EF4-FFF2-40B4-BE49-F238E27FC236}">
                <a16:creationId xmlns:a16="http://schemas.microsoft.com/office/drawing/2014/main" id="{13A7FB87-EB95-4F56-B1CA-496E9793F3E9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0">
            <a:extLst>
              <a:ext uri="{FF2B5EF4-FFF2-40B4-BE49-F238E27FC236}">
                <a16:creationId xmlns:a16="http://schemas.microsoft.com/office/drawing/2014/main" id="{BEA3F69A-8561-49B5-BBC5-102F28E057D4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514350" y="1666875"/>
          <a:ext cx="5238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rade-pct-0">
            <a:extLst>
              <a:ext uri="{FF2B5EF4-FFF2-40B4-BE49-F238E27FC236}">
                <a16:creationId xmlns:a16="http://schemas.microsoft.com/office/drawing/2014/main" id="{8AD6D85E-DDD5-44ED-B7CB-AF8B17E0F46E}"/>
              </a:ext>
            </a:extLst>
          </p:cNvPr>
          <p:cNvSpPr>
            <a:spLocks noGrp="1"/>
          </p:cNvSpPr>
          <p:nvPr/>
        </p:nvSpPr>
        <p:spPr>
          <a:xfrm>
            <a:off x="6477000" y="1752600"/>
            <a:ext cx="1123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3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40 %</a:t>
            </a:r>
          </a:p>
        </p:txBody>
      </p:sp>
      <p:sp>
        <p:nvSpPr>
          <p:cNvPr id="7" name="grade-label-0">
            <a:extLst>
              <a:ext uri="{FF2B5EF4-FFF2-40B4-BE49-F238E27FC236}">
                <a16:creationId xmlns:a16="http://schemas.microsoft.com/office/drawing/2014/main" id="{85B5191C-8DF8-4BB7-81DD-6C0BC9EFF6C2}"/>
              </a:ext>
            </a:extLst>
          </p:cNvPr>
          <p:cNvSpPr>
            <a:spLocks noGrp="1"/>
          </p:cNvSpPr>
          <p:nvPr/>
        </p:nvSpPr>
        <p:spPr>
          <a:xfrm>
            <a:off x="7791450" y="1790700"/>
            <a:ext cx="350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269"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Tres exámenes parciales acumulativos</a:t>
            </a:r>
          </a:p>
        </p:txBody>
      </p:sp>
      <p:sp>
        <p:nvSpPr>
          <p:cNvPr id="8" name="grade-rule-0">
            <a:extLst>
              <a:ext uri="{FF2B5EF4-FFF2-40B4-BE49-F238E27FC236}">
                <a16:creationId xmlns:a16="http://schemas.microsoft.com/office/drawing/2014/main" id="{95C96BB8-E899-469D-A36C-8FDA6EAB23AB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48196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grade-pct-1">
            <a:extLst>
              <a:ext uri="{FF2B5EF4-FFF2-40B4-BE49-F238E27FC236}">
                <a16:creationId xmlns:a16="http://schemas.microsoft.com/office/drawing/2014/main" id="{B479E768-5BA3-4F8D-A399-B8413625937C}"/>
              </a:ext>
            </a:extLst>
          </p:cNvPr>
          <p:cNvSpPr>
            <a:spLocks noGrp="1"/>
          </p:cNvSpPr>
          <p:nvPr/>
        </p:nvSpPr>
        <p:spPr>
          <a:xfrm>
            <a:off x="6477000" y="2552700"/>
            <a:ext cx="1123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3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30 %</a:t>
            </a:r>
          </a:p>
        </p:txBody>
      </p:sp>
      <p:sp>
        <p:nvSpPr>
          <p:cNvPr id="10" name="grade-label-1">
            <a:extLst>
              <a:ext uri="{FF2B5EF4-FFF2-40B4-BE49-F238E27FC236}">
                <a16:creationId xmlns:a16="http://schemas.microsoft.com/office/drawing/2014/main" id="{514214C2-7491-443B-A758-5626539FF77E}"/>
              </a:ext>
            </a:extLst>
          </p:cNvPr>
          <p:cNvSpPr>
            <a:spLocks noGrp="1"/>
          </p:cNvSpPr>
          <p:nvPr/>
        </p:nvSpPr>
        <p:spPr>
          <a:xfrm>
            <a:off x="7791450" y="2590800"/>
            <a:ext cx="350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Prácticas, simulaciones e informes</a:t>
            </a:r>
          </a:p>
        </p:txBody>
      </p:sp>
      <p:sp>
        <p:nvSpPr>
          <p:cNvPr id="11" name="grade-rule-1">
            <a:extLst>
              <a:ext uri="{FF2B5EF4-FFF2-40B4-BE49-F238E27FC236}">
                <a16:creationId xmlns:a16="http://schemas.microsoft.com/office/drawing/2014/main" id="{56FDC0ED-86DE-45B7-8771-9362C0A6BC42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48196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grade-pct-2">
            <a:extLst>
              <a:ext uri="{FF2B5EF4-FFF2-40B4-BE49-F238E27FC236}">
                <a16:creationId xmlns:a16="http://schemas.microsoft.com/office/drawing/2014/main" id="{77BCC444-AF38-4D15-8587-8F79FDB5F687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1123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325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15 %</a:t>
            </a:r>
          </a:p>
        </p:txBody>
      </p:sp>
      <p:sp>
        <p:nvSpPr>
          <p:cNvPr id="13" name="grade-label-2">
            <a:extLst>
              <a:ext uri="{FF2B5EF4-FFF2-40B4-BE49-F238E27FC236}">
                <a16:creationId xmlns:a16="http://schemas.microsoft.com/office/drawing/2014/main" id="{E437FBAC-C05F-413D-92A7-9A6CA8B9951F}"/>
              </a:ext>
            </a:extLst>
          </p:cNvPr>
          <p:cNvSpPr>
            <a:spLocks noGrp="1"/>
          </p:cNvSpPr>
          <p:nvPr/>
        </p:nvSpPr>
        <p:spPr>
          <a:xfrm>
            <a:off x="7791450" y="3390900"/>
            <a:ext cx="350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Proyecto integrador aeroespacial</a:t>
            </a:r>
          </a:p>
        </p:txBody>
      </p:sp>
      <p:sp>
        <p:nvSpPr>
          <p:cNvPr id="14" name="grade-rule-2">
            <a:extLst>
              <a:ext uri="{FF2B5EF4-FFF2-40B4-BE49-F238E27FC236}">
                <a16:creationId xmlns:a16="http://schemas.microsoft.com/office/drawing/2014/main" id="{272BE88F-975F-433E-B1FF-92D58311308E}"/>
              </a:ext>
            </a:extLst>
          </p:cNvPr>
          <p:cNvSpPr>
            <a:spLocks noGrp="1"/>
          </p:cNvSpPr>
          <p:nvPr/>
        </p:nvSpPr>
        <p:spPr>
          <a:xfrm>
            <a:off x="6477000" y="3943350"/>
            <a:ext cx="48196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grade-pct-3">
            <a:extLst>
              <a:ext uri="{FF2B5EF4-FFF2-40B4-BE49-F238E27FC236}">
                <a16:creationId xmlns:a16="http://schemas.microsoft.com/office/drawing/2014/main" id="{3C02D6E0-31FA-4DB9-BAAD-F65063388A32}"/>
              </a:ext>
            </a:extLst>
          </p:cNvPr>
          <p:cNvSpPr>
            <a:spLocks noGrp="1"/>
          </p:cNvSpPr>
          <p:nvPr/>
        </p:nvSpPr>
        <p:spPr>
          <a:xfrm>
            <a:off x="6477000" y="4152900"/>
            <a:ext cx="1123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3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10 %</a:t>
            </a:r>
          </a:p>
        </p:txBody>
      </p:sp>
      <p:sp>
        <p:nvSpPr>
          <p:cNvPr id="16" name="grade-label-3">
            <a:extLst>
              <a:ext uri="{FF2B5EF4-FFF2-40B4-BE49-F238E27FC236}">
                <a16:creationId xmlns:a16="http://schemas.microsoft.com/office/drawing/2014/main" id="{F043A282-9F2B-457F-8908-60A1C4B7BB4E}"/>
              </a:ext>
            </a:extLst>
          </p:cNvPr>
          <p:cNvSpPr>
            <a:spLocks noGrp="1"/>
          </p:cNvSpPr>
          <p:nvPr/>
        </p:nvSpPr>
        <p:spPr>
          <a:xfrm>
            <a:off x="7791450" y="4191000"/>
            <a:ext cx="350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Tareas de diseño</a:t>
            </a:r>
          </a:p>
        </p:txBody>
      </p:sp>
      <p:sp>
        <p:nvSpPr>
          <p:cNvPr id="17" name="grade-rule-3">
            <a:extLst>
              <a:ext uri="{FF2B5EF4-FFF2-40B4-BE49-F238E27FC236}">
                <a16:creationId xmlns:a16="http://schemas.microsoft.com/office/drawing/2014/main" id="{54552E61-A05C-4EB1-ABA6-09196D0702C6}"/>
              </a:ext>
            </a:extLst>
          </p:cNvPr>
          <p:cNvSpPr>
            <a:spLocks noGrp="1"/>
          </p:cNvSpPr>
          <p:nvPr/>
        </p:nvSpPr>
        <p:spPr>
          <a:xfrm>
            <a:off x="6477000" y="4743450"/>
            <a:ext cx="48196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grade-pct-4">
            <a:extLst>
              <a:ext uri="{FF2B5EF4-FFF2-40B4-BE49-F238E27FC236}">
                <a16:creationId xmlns:a16="http://schemas.microsoft.com/office/drawing/2014/main" id="{A01E7B60-BC92-4B95-A624-C17CB76D7402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1123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3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5 %</a:t>
            </a:r>
          </a:p>
        </p:txBody>
      </p:sp>
      <p:sp>
        <p:nvSpPr>
          <p:cNvPr id="19" name="grade-label-4">
            <a:extLst>
              <a:ext uri="{FF2B5EF4-FFF2-40B4-BE49-F238E27FC236}">
                <a16:creationId xmlns:a16="http://schemas.microsoft.com/office/drawing/2014/main" id="{348F1C5B-E919-4930-B8CE-012A3D4F5B20}"/>
              </a:ext>
            </a:extLst>
          </p:cNvPr>
          <p:cNvSpPr>
            <a:spLocks noGrp="1"/>
          </p:cNvSpPr>
          <p:nvPr/>
        </p:nvSpPr>
        <p:spPr>
          <a:xfrm>
            <a:off x="7791450" y="4991100"/>
            <a:ext cx="350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Participación y bitácora</a:t>
            </a:r>
          </a:p>
        </p:txBody>
      </p:sp>
      <p:sp>
        <p:nvSpPr>
          <p:cNvPr id="20" name="grade-rule-4">
            <a:extLst>
              <a:ext uri="{FF2B5EF4-FFF2-40B4-BE49-F238E27FC236}">
                <a16:creationId xmlns:a16="http://schemas.microsoft.com/office/drawing/2014/main" id="{FEFADBCD-D1FB-4EAD-90B3-99F9420B4304}"/>
              </a:ext>
            </a:extLst>
          </p:cNvPr>
          <p:cNvSpPr>
            <a:spLocks noGrp="1"/>
          </p:cNvSpPr>
          <p:nvPr/>
        </p:nvSpPr>
        <p:spPr>
          <a:xfrm>
            <a:off x="6477000" y="5543550"/>
            <a:ext cx="48196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600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11">
            <a:extLst>
              <a:ext uri="{FF2B5EF4-FFF2-40B4-BE49-F238E27FC236}">
                <a16:creationId xmlns:a16="http://schemas.microsoft.com/office/drawing/2014/main" id="{134E4696-DC6D-4D49-B223-DD90148DF99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ACREDITACIÓN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4DAFC6F2-1156-486B-BCEA-609EB11F4F1E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Exentar exige 8.0 y cumplimiento</a:t>
            </a: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BC27205D-D612-42EE-95A4-2BEE78F37C42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1">
            <a:extLst>
              <a:ext uri="{FF2B5EF4-FFF2-40B4-BE49-F238E27FC236}">
                <a16:creationId xmlns:a16="http://schemas.microsoft.com/office/drawing/2014/main" id="{04E53D5A-0FB8-4827-BFE1-1AFBCA7CB42C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accred-main">
            <a:extLst>
              <a:ext uri="{FF2B5EF4-FFF2-40B4-BE49-F238E27FC236}">
                <a16:creationId xmlns:a16="http://schemas.microsoft.com/office/drawing/2014/main" id="{3326015A-2E4E-4B00-A40E-326464369183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3810000" cy="3962400"/>
          </a:xfrm>
          <a:prstGeom prst="rect">
            <a:avLst/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accred-eight">
            <a:extLst>
              <a:ext uri="{FF2B5EF4-FFF2-40B4-BE49-F238E27FC236}">
                <a16:creationId xmlns:a16="http://schemas.microsoft.com/office/drawing/2014/main" id="{025FC434-5D9F-4E46-BB87-A6FCA8E748C4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3276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7" name="accred-label">
            <a:extLst>
              <a:ext uri="{FF2B5EF4-FFF2-40B4-BE49-F238E27FC236}">
                <a16:creationId xmlns:a16="http://schemas.microsoft.com/office/drawing/2014/main" id="{B268FBC1-D852-45BD-8B5A-88325670F713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32766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promedio mínimo de evaluación continua</a:t>
            </a:r>
          </a:p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exentar el ordinario</a:t>
            </a:r>
          </a:p>
        </p:txBody>
      </p:sp>
      <p:sp>
        <p:nvSpPr>
          <p:cNvPr id="8" name="accred-scale">
            <a:extLst>
              <a:ext uri="{FF2B5EF4-FFF2-40B4-BE49-F238E27FC236}">
                <a16:creationId xmlns:a16="http://schemas.microsoft.com/office/drawing/2014/main" id="{09617832-5187-4DEC-9529-7EDE796DCFA6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3276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aprueba; 8.0 exenta.  5 no acredita</a:t>
            </a:r>
          </a:p>
        </p:txBody>
      </p:sp>
      <p:sp>
        <p:nvSpPr>
          <p:cNvPr id="9" name="accred-list">
            <a:extLst>
              <a:ext uri="{FF2B5EF4-FFF2-40B4-BE49-F238E27FC236}">
                <a16:creationId xmlns:a16="http://schemas.microsoft.com/office/drawing/2014/main" id="{A2F8BEE4-0826-4B48-ACBA-83E6C8050DBD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45795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Al menos 80 % de asistencia en las sesiones obligatorias.</a:t>
            </a:r>
          </a:p>
          <a:p>
            <a:pPr algn="l">
              <a:defRPr sz="17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Al menos 80 % de prácticas realizadas e informadas.</a:t>
            </a:r>
          </a:p>
          <a:p>
            <a:pPr algn="l">
              <a:defRPr sz="17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Presentar los tres parciales y el proyecto integrador.</a:t>
            </a:r>
          </a:p>
          <a:p>
            <a:pPr algn="l">
              <a:defRPr sz="17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Una simulación no sustituye automáticamente el montaje físico.</a:t>
            </a:r>
          </a:p>
          <a:p>
            <a:pPr algn="l">
              <a:defRPr sz="17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Quien no exente conserva su derecho a ordinarios conforme a la normativa.</a:t>
            </a:r>
          </a:p>
        </p:txBody>
      </p:sp>
    </p:spTree>
    <p:extLst>
      <p:ext uri="{BB962C8B-B14F-4D97-AF65-F5344CB8AC3E}">
        <p14:creationId xmlns:p14="http://schemas.microsoft.com/office/powerpoint/2010/main" val="55037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12">
            <a:extLst>
              <a:ext uri="{FF2B5EF4-FFF2-40B4-BE49-F238E27FC236}">
                <a16:creationId xmlns:a16="http://schemas.microsoft.com/office/drawing/2014/main" id="{C512B03F-D199-43A3-9D04-556744428D1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EVALUACIÓN DE LABORATORIO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FC94C9F1-C22B-494D-9037-F203F02FEEDB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práctica usa la misma rúbrica</a:t>
            </a:r>
          </a:p>
        </p:txBody>
      </p:sp>
      <p:sp>
        <p:nvSpPr>
          <p:cNvPr id="3" name="rule-12">
            <a:extLst>
              <a:ext uri="{FF2B5EF4-FFF2-40B4-BE49-F238E27FC236}">
                <a16:creationId xmlns:a16="http://schemas.microsoft.com/office/drawing/2014/main" id="{5C1346BB-8759-42EC-AB1C-A3DF9B7B9764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2">
            <a:extLst>
              <a:ext uri="{FF2B5EF4-FFF2-40B4-BE49-F238E27FC236}">
                <a16:creationId xmlns:a16="http://schemas.microsoft.com/office/drawing/2014/main" id="{DE169A8C-D815-460A-9AAD-F4485275075A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ubric-band-0">
            <a:extLst>
              <a:ext uri="{FF2B5EF4-FFF2-40B4-BE49-F238E27FC236}">
                <a16:creationId xmlns:a16="http://schemas.microsoft.com/office/drawing/2014/main" id="{50C34A4E-F4EA-43E8-B613-633872C2A2B5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1645920" cy="742950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rubric-pct-0">
            <a:extLst>
              <a:ext uri="{FF2B5EF4-FFF2-40B4-BE49-F238E27FC236}">
                <a16:creationId xmlns:a16="http://schemas.microsoft.com/office/drawing/2014/main" id="{6EDE9B20-0F25-4F5E-8BFF-9A13993EE8A4}"/>
              </a:ext>
            </a:extLst>
          </p:cNvPr>
          <p:cNvSpPr>
            <a:spLocks noGrp="1"/>
          </p:cNvSpPr>
          <p:nvPr/>
        </p:nvSpPr>
        <p:spPr>
          <a:xfrm>
            <a:off x="552450" y="1971675"/>
            <a:ext cx="164592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15 %</a:t>
            </a:r>
          </a:p>
        </p:txBody>
      </p:sp>
      <p:sp>
        <p:nvSpPr>
          <p:cNvPr id="7" name="rubric-band-1">
            <a:extLst>
              <a:ext uri="{FF2B5EF4-FFF2-40B4-BE49-F238E27FC236}">
                <a16:creationId xmlns:a16="http://schemas.microsoft.com/office/drawing/2014/main" id="{3D8FB667-60FB-473A-A0DF-6533D0895047}"/>
              </a:ext>
            </a:extLst>
          </p:cNvPr>
          <p:cNvSpPr>
            <a:spLocks noGrp="1"/>
          </p:cNvSpPr>
          <p:nvPr/>
        </p:nvSpPr>
        <p:spPr>
          <a:xfrm>
            <a:off x="2198370" y="1790700"/>
            <a:ext cx="2194560" cy="742950"/>
          </a:xfrm>
          <a:prstGeom prst="rect">
            <a:avLst/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rubric-pct-1">
            <a:extLst>
              <a:ext uri="{FF2B5EF4-FFF2-40B4-BE49-F238E27FC236}">
                <a16:creationId xmlns:a16="http://schemas.microsoft.com/office/drawing/2014/main" id="{582CBB55-F069-4548-B688-638F32F85CB3}"/>
              </a:ext>
            </a:extLst>
          </p:cNvPr>
          <p:cNvSpPr>
            <a:spLocks noGrp="1"/>
          </p:cNvSpPr>
          <p:nvPr/>
        </p:nvSpPr>
        <p:spPr>
          <a:xfrm>
            <a:off x="2198370" y="1971675"/>
            <a:ext cx="21945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20 %</a:t>
            </a:r>
          </a:p>
        </p:txBody>
      </p:sp>
      <p:sp>
        <p:nvSpPr>
          <p:cNvPr id="9" name="rubric-band-2">
            <a:extLst>
              <a:ext uri="{FF2B5EF4-FFF2-40B4-BE49-F238E27FC236}">
                <a16:creationId xmlns:a16="http://schemas.microsoft.com/office/drawing/2014/main" id="{0AE3167A-F753-4D82-B3D9-9F76F38335D0}"/>
              </a:ext>
            </a:extLst>
          </p:cNvPr>
          <p:cNvSpPr>
            <a:spLocks noGrp="1"/>
          </p:cNvSpPr>
          <p:nvPr/>
        </p:nvSpPr>
        <p:spPr>
          <a:xfrm>
            <a:off x="4392930" y="1790700"/>
            <a:ext cx="2743200" cy="742950"/>
          </a:xfrm>
          <a:prstGeom prst="rect">
            <a:avLst/>
          </a:prstGeom>
          <a:solidFill>
            <a:srgbClr val="2E8BC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rubric-pct-2">
            <a:extLst>
              <a:ext uri="{FF2B5EF4-FFF2-40B4-BE49-F238E27FC236}">
                <a16:creationId xmlns:a16="http://schemas.microsoft.com/office/drawing/2014/main" id="{E1F20A7C-8904-4C5C-AA3E-FCF34CE33D67}"/>
              </a:ext>
            </a:extLst>
          </p:cNvPr>
          <p:cNvSpPr>
            <a:spLocks noGrp="1"/>
          </p:cNvSpPr>
          <p:nvPr/>
        </p:nvSpPr>
        <p:spPr>
          <a:xfrm>
            <a:off x="4392930" y="1971675"/>
            <a:ext cx="274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25 %</a:t>
            </a:r>
          </a:p>
        </p:txBody>
      </p:sp>
      <p:sp>
        <p:nvSpPr>
          <p:cNvPr id="11" name="rubric-band-3">
            <a:extLst>
              <a:ext uri="{FF2B5EF4-FFF2-40B4-BE49-F238E27FC236}">
                <a16:creationId xmlns:a16="http://schemas.microsoft.com/office/drawing/2014/main" id="{5995B95E-91EA-46F4-8706-FD3F3CA220B7}"/>
              </a:ext>
            </a:extLst>
          </p:cNvPr>
          <p:cNvSpPr>
            <a:spLocks noGrp="1"/>
          </p:cNvSpPr>
          <p:nvPr/>
        </p:nvSpPr>
        <p:spPr>
          <a:xfrm>
            <a:off x="7136130" y="1790700"/>
            <a:ext cx="2743200" cy="742950"/>
          </a:xfrm>
          <a:prstGeom prst="rect">
            <a:avLst/>
          </a:prstGeom>
          <a:solidFill>
            <a:srgbClr val="3D6E91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ubric-pct-3">
            <a:extLst>
              <a:ext uri="{FF2B5EF4-FFF2-40B4-BE49-F238E27FC236}">
                <a16:creationId xmlns:a16="http://schemas.microsoft.com/office/drawing/2014/main" id="{E5CCCAA1-B0BF-4BB3-9CB3-922938F0E0C1}"/>
              </a:ext>
            </a:extLst>
          </p:cNvPr>
          <p:cNvSpPr>
            <a:spLocks noGrp="1"/>
          </p:cNvSpPr>
          <p:nvPr/>
        </p:nvSpPr>
        <p:spPr>
          <a:xfrm>
            <a:off x="7136130" y="1971675"/>
            <a:ext cx="274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25 %</a:t>
            </a:r>
          </a:p>
        </p:txBody>
      </p:sp>
      <p:sp>
        <p:nvSpPr>
          <p:cNvPr id="13" name="rubric-band-4">
            <a:extLst>
              <a:ext uri="{FF2B5EF4-FFF2-40B4-BE49-F238E27FC236}">
                <a16:creationId xmlns:a16="http://schemas.microsoft.com/office/drawing/2014/main" id="{9B12D7E9-8D39-4933-87BF-B0DC9E7A03CA}"/>
              </a:ext>
            </a:extLst>
          </p:cNvPr>
          <p:cNvSpPr>
            <a:spLocks noGrp="1"/>
          </p:cNvSpPr>
          <p:nvPr/>
        </p:nvSpPr>
        <p:spPr>
          <a:xfrm>
            <a:off x="9879330" y="1790700"/>
            <a:ext cx="1645920" cy="742950"/>
          </a:xfrm>
          <a:prstGeom prst="rect">
            <a:avLst/>
          </a:prstGeom>
          <a:solidFill>
            <a:srgbClr val="6B7280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ubric-pct-4">
            <a:extLst>
              <a:ext uri="{FF2B5EF4-FFF2-40B4-BE49-F238E27FC236}">
                <a16:creationId xmlns:a16="http://schemas.microsoft.com/office/drawing/2014/main" id="{83A45925-E9D3-4DE2-8049-7328F433EA34}"/>
              </a:ext>
            </a:extLst>
          </p:cNvPr>
          <p:cNvSpPr>
            <a:spLocks noGrp="1"/>
          </p:cNvSpPr>
          <p:nvPr/>
        </p:nvSpPr>
        <p:spPr>
          <a:xfrm>
            <a:off x="9879330" y="1971675"/>
            <a:ext cx="164592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15 %</a:t>
            </a:r>
          </a:p>
        </p:txBody>
      </p:sp>
      <p:sp>
        <p:nvSpPr>
          <p:cNvPr id="15" name="rubric-head-0">
            <a:extLst>
              <a:ext uri="{FF2B5EF4-FFF2-40B4-BE49-F238E27FC236}">
                <a16:creationId xmlns:a16="http://schemas.microsoft.com/office/drawing/2014/main" id="{72A464F8-44BF-4817-8F17-4BA244F87A70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645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8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16" name="rubric-body-0">
            <a:extLst>
              <a:ext uri="{FF2B5EF4-FFF2-40B4-BE49-F238E27FC236}">
                <a16:creationId xmlns:a16="http://schemas.microsoft.com/office/drawing/2014/main" id="{9EE0DD98-22A7-495D-BD33-BBC581E5DEA4}"/>
              </a:ext>
            </a:extLst>
          </p:cNvPr>
          <p:cNvSpPr>
            <a:spLocks noGrp="1"/>
          </p:cNvSpPr>
          <p:nvPr/>
        </p:nvSpPr>
        <p:spPr>
          <a:xfrm>
            <a:off x="548640" y="3163824"/>
            <a:ext cx="164592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Prelaboratorio y predicción</a:t>
            </a:r>
          </a:p>
        </p:txBody>
      </p:sp>
      <p:sp>
        <p:nvSpPr>
          <p:cNvPr id="17" name="rubric-head-1">
            <a:extLst>
              <a:ext uri="{FF2B5EF4-FFF2-40B4-BE49-F238E27FC236}">
                <a16:creationId xmlns:a16="http://schemas.microsoft.com/office/drawing/2014/main" id="{96552DD8-6B46-4637-99B6-2CDFFE498E8B}"/>
              </a:ext>
            </a:extLst>
          </p:cNvPr>
          <p:cNvSpPr>
            <a:spLocks noGrp="1"/>
          </p:cNvSpPr>
          <p:nvPr/>
        </p:nvSpPr>
        <p:spPr>
          <a:xfrm>
            <a:off x="2194560" y="2697480"/>
            <a:ext cx="219456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8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8" name="rubric-body-1">
            <a:extLst>
              <a:ext uri="{FF2B5EF4-FFF2-40B4-BE49-F238E27FC236}">
                <a16:creationId xmlns:a16="http://schemas.microsoft.com/office/drawing/2014/main" id="{7AAE1771-B5FF-437F-872F-56424872C0A4}"/>
              </a:ext>
            </a:extLst>
          </p:cNvPr>
          <p:cNvSpPr>
            <a:spLocks noGrp="1"/>
          </p:cNvSpPr>
          <p:nvPr/>
        </p:nvSpPr>
        <p:spPr>
          <a:xfrm>
            <a:off x="2194560" y="3163824"/>
            <a:ext cx="219456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Orden y bitácora</a:t>
            </a:r>
          </a:p>
        </p:txBody>
      </p:sp>
      <p:sp>
        <p:nvSpPr>
          <p:cNvPr id="19" name="rubric-head-2">
            <a:extLst>
              <a:ext uri="{FF2B5EF4-FFF2-40B4-BE49-F238E27FC236}">
                <a16:creationId xmlns:a16="http://schemas.microsoft.com/office/drawing/2014/main" id="{3B1239B2-41A1-493C-8131-0B831E1C2241}"/>
              </a:ext>
            </a:extLst>
          </p:cNvPr>
          <p:cNvSpPr>
            <a:spLocks noGrp="1"/>
          </p:cNvSpPr>
          <p:nvPr/>
        </p:nvSpPr>
        <p:spPr>
          <a:xfrm>
            <a:off x="4389120" y="269748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8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20" name="rubric-body-2">
            <a:extLst>
              <a:ext uri="{FF2B5EF4-FFF2-40B4-BE49-F238E27FC236}">
                <a16:creationId xmlns:a16="http://schemas.microsoft.com/office/drawing/2014/main" id="{F80CFC78-C66A-4CB8-92B0-40CE4E788EA8}"/>
              </a:ext>
            </a:extLst>
          </p:cNvPr>
          <p:cNvSpPr>
            <a:spLocks noGrp="1"/>
          </p:cNvSpPr>
          <p:nvPr/>
        </p:nvSpPr>
        <p:spPr>
          <a:xfrm>
            <a:off x="4389120" y="3163824"/>
            <a:ext cx="274320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Montaje, simulación y datos</a:t>
            </a:r>
          </a:p>
        </p:txBody>
      </p:sp>
      <p:sp>
        <p:nvSpPr>
          <p:cNvPr id="21" name="rubric-head-3">
            <a:extLst>
              <a:ext uri="{FF2B5EF4-FFF2-40B4-BE49-F238E27FC236}">
                <a16:creationId xmlns:a16="http://schemas.microsoft.com/office/drawing/2014/main" id="{A2457B6F-4C1D-4704-BB19-7422F02ED7FB}"/>
              </a:ext>
            </a:extLst>
          </p:cNvPr>
          <p:cNvSpPr>
            <a:spLocks noGrp="1"/>
          </p:cNvSpPr>
          <p:nvPr/>
        </p:nvSpPr>
        <p:spPr>
          <a:xfrm>
            <a:off x="7132320" y="269748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8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Análisis</a:t>
            </a:r>
          </a:p>
        </p:txBody>
      </p:sp>
      <p:sp>
        <p:nvSpPr>
          <p:cNvPr id="22" name="rubric-body-3">
            <a:extLst>
              <a:ext uri="{FF2B5EF4-FFF2-40B4-BE49-F238E27FC236}">
                <a16:creationId xmlns:a16="http://schemas.microsoft.com/office/drawing/2014/main" id="{88BDCF84-D328-4CB4-85AC-5E85D6C78285}"/>
              </a:ext>
            </a:extLst>
          </p:cNvPr>
          <p:cNvSpPr>
            <a:spLocks noGrp="1"/>
          </p:cNvSpPr>
          <p:nvPr/>
        </p:nvSpPr>
        <p:spPr>
          <a:xfrm>
            <a:off x="7132320" y="3163824"/>
            <a:ext cx="274320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Incertidumbre y comparación</a:t>
            </a:r>
          </a:p>
        </p:txBody>
      </p:sp>
      <p:sp>
        <p:nvSpPr>
          <p:cNvPr id="23" name="rubric-head-4">
            <a:extLst>
              <a:ext uri="{FF2B5EF4-FFF2-40B4-BE49-F238E27FC236}">
                <a16:creationId xmlns:a16="http://schemas.microsoft.com/office/drawing/2014/main" id="{BCB3A1BA-216E-4445-93BE-F7673D1C0A55}"/>
              </a:ext>
            </a:extLst>
          </p:cNvPr>
          <p:cNvSpPr>
            <a:spLocks noGrp="1"/>
          </p:cNvSpPr>
          <p:nvPr/>
        </p:nvSpPr>
        <p:spPr>
          <a:xfrm>
            <a:off x="9875520" y="2697480"/>
            <a:ext cx="1645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1667"/>
          </a:bodyPr>
          <a:lstStyle/>
          <a:p>
            <a:pPr algn="ctr">
              <a:defRPr sz="180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Informe</a:t>
            </a:r>
          </a:p>
        </p:txBody>
      </p:sp>
      <p:sp>
        <p:nvSpPr>
          <p:cNvPr id="24" name="rubric-body-4">
            <a:extLst>
              <a:ext uri="{FF2B5EF4-FFF2-40B4-BE49-F238E27FC236}">
                <a16:creationId xmlns:a16="http://schemas.microsoft.com/office/drawing/2014/main" id="{104B9FD6-D42D-4F69-BC16-C0F08AB7B4F2}"/>
              </a:ext>
            </a:extLst>
          </p:cNvPr>
          <p:cNvSpPr>
            <a:spLocks noGrp="1"/>
          </p:cNvSpPr>
          <p:nvPr/>
        </p:nvSpPr>
        <p:spPr>
          <a:xfrm>
            <a:off x="9875520" y="3163824"/>
            <a:ext cx="164592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Conclusiones y trazabilidad</a:t>
            </a:r>
          </a:p>
        </p:txBody>
      </p:sp>
      <p:sp>
        <p:nvSpPr>
          <p:cNvPr id="25" name="rubric-warning">
            <a:extLst>
              <a:ext uri="{FF2B5EF4-FFF2-40B4-BE49-F238E27FC236}">
                <a16:creationId xmlns:a16="http://schemas.microsoft.com/office/drawing/2014/main" id="{CDCA67AA-3FCE-427E-8506-04A945C38501}"/>
              </a:ext>
            </a:extLst>
          </p:cNvPr>
          <p:cNvSpPr>
            <a:spLocks noGrp="1"/>
          </p:cNvSpPr>
          <p:nvPr/>
        </p:nvSpPr>
        <p:spPr>
          <a:xfrm>
            <a:off x="548640" y="3977639"/>
            <a:ext cx="11082528" cy="713232"/>
          </a:xfrm>
          <a:prstGeom prst="roundRect">
            <a:avLst>
              <a:gd name="adj" fmla="val 3922"/>
            </a:avLst>
          </a:prstGeom>
          <a:solidFill>
            <a:srgbClr val="FBE8E8"/>
          </a:solidFill>
          <a:ln w="9525">
            <a:solidFill>
              <a:srgbClr val="A61B1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rubric-warning-text">
            <a:extLst>
              <a:ext uri="{FF2B5EF4-FFF2-40B4-BE49-F238E27FC236}">
                <a16:creationId xmlns:a16="http://schemas.microsoft.com/office/drawing/2014/main" id="{EF498643-7E3E-4DF6-A824-D581A575DADB}"/>
              </a:ext>
            </a:extLst>
          </p:cNvPr>
          <p:cNvSpPr>
            <a:spLocks noGrp="1"/>
          </p:cNvSpPr>
          <p:nvPr/>
        </p:nvSpPr>
        <p:spPr>
          <a:xfrm>
            <a:off x="731520" y="4114800"/>
            <a:ext cx="10716768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333"/>
          </a:bodyPr>
          <a:lstStyle/>
          <a:p>
            <a:pPr algn="ctr">
              <a:defRPr sz="1500" b="1" i="0">
                <a:solidFill>
                  <a:srgbClr val="A61B1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1B1B"/>
                </a:solidFill>
                <a:latin typeface="Arial"/>
                <a:ea typeface="Arial"/>
                <a:cs typeface="Arial"/>
              </a:rPr>
              <a:t>Una conducta insegura puede suspender la ejecución de la práctica.</a:t>
            </a:r>
          </a:p>
        </p:txBody>
      </p:sp>
    </p:spTree>
    <p:extLst>
      <p:ext uri="{BB962C8B-B14F-4D97-AF65-F5344CB8AC3E}">
        <p14:creationId xmlns:p14="http://schemas.microsoft.com/office/powerpoint/2010/main" val="173945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-13">
            <a:extLst>
              <a:ext uri="{FF2B5EF4-FFF2-40B4-BE49-F238E27FC236}">
                <a16:creationId xmlns:a16="http://schemas.microsoft.com/office/drawing/2014/main" id="{7B684AF5-E647-4B5C-ABC8-F659B1E4AAB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0AA3D57C-8AD0-41EA-8AD1-651EC9DE14AC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bitácora permite reconstruir cada decisión</a:t>
            </a:r>
          </a:p>
        </p:txBody>
      </p:sp>
      <p:sp>
        <p:nvSpPr>
          <p:cNvPr id="3" name="rule-13">
            <a:extLst>
              <a:ext uri="{FF2B5EF4-FFF2-40B4-BE49-F238E27FC236}">
                <a16:creationId xmlns:a16="http://schemas.microsoft.com/office/drawing/2014/main" id="{932EBA8F-400B-481E-8BF6-F935BAE41E9F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3">
            <a:extLst>
              <a:ext uri="{FF2B5EF4-FFF2-40B4-BE49-F238E27FC236}">
                <a16:creationId xmlns:a16="http://schemas.microsoft.com/office/drawing/2014/main" id="{FAB91406-538A-40CD-9642-7F27F7CE1699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og-line">
            <a:extLst>
              <a:ext uri="{FF2B5EF4-FFF2-40B4-BE49-F238E27FC236}">
                <a16:creationId xmlns:a16="http://schemas.microsoft.com/office/drawing/2014/main" id="{309D3CFB-C900-47EC-82BB-A0F49D711A40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01250" cy="38100"/>
          </a:xfrm>
          <a:prstGeom prst="rect">
            <a:avLst/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log-dot-0">
            <a:extLst>
              <a:ext uri="{FF2B5EF4-FFF2-40B4-BE49-F238E27FC236}">
                <a16:creationId xmlns:a16="http://schemas.microsoft.com/office/drawing/2014/main" id="{7BF67ED8-173B-492A-B34F-95A3F0F21806}"/>
              </a:ext>
            </a:extLst>
          </p:cNvPr>
          <p:cNvSpPr>
            <a:spLocks noGrp="1"/>
          </p:cNvSpPr>
          <p:nvPr/>
        </p:nvSpPr>
        <p:spPr>
          <a:xfrm>
            <a:off x="809625" y="25336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log-label-0">
            <a:extLst>
              <a:ext uri="{FF2B5EF4-FFF2-40B4-BE49-F238E27FC236}">
                <a16:creationId xmlns:a16="http://schemas.microsoft.com/office/drawing/2014/main" id="{8CABDD0E-2CE8-4DE4-84BF-1ABCCE92B2C3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8" name="log-body-0">
            <a:extLst>
              <a:ext uri="{FF2B5EF4-FFF2-40B4-BE49-F238E27FC236}">
                <a16:creationId xmlns:a16="http://schemas.microsoft.com/office/drawing/2014/main" id="{905C6828-7D03-4177-A99B-FA5EA7308C20}"/>
              </a:ext>
            </a:extLst>
          </p:cNvPr>
          <p:cNvSpPr>
            <a:spLocks noGrp="1"/>
          </p:cNvSpPr>
          <p:nvPr/>
        </p:nvSpPr>
        <p:spPr>
          <a:xfrm>
            <a:off x="714375" y="335280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Objetivo · esquema y versión · valores · predicciones · riesgos</a:t>
            </a:r>
          </a:p>
        </p:txBody>
      </p:sp>
      <p:sp>
        <p:nvSpPr>
          <p:cNvPr id="9" name="log-dot-1">
            <a:extLst>
              <a:ext uri="{FF2B5EF4-FFF2-40B4-BE49-F238E27FC236}">
                <a16:creationId xmlns:a16="http://schemas.microsoft.com/office/drawing/2014/main" id="{E5CF9F29-85AE-4736-8EC8-5A3E9F73580D}"/>
              </a:ext>
            </a:extLst>
          </p:cNvPr>
          <p:cNvSpPr>
            <a:spLocks noGrp="1"/>
          </p:cNvSpPr>
          <p:nvPr/>
        </p:nvSpPr>
        <p:spPr>
          <a:xfrm>
            <a:off x="4581525" y="25336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log-label-1">
            <a:extLst>
              <a:ext uri="{FF2B5EF4-FFF2-40B4-BE49-F238E27FC236}">
                <a16:creationId xmlns:a16="http://schemas.microsoft.com/office/drawing/2014/main" id="{C5D02124-45F6-4EFA-82B9-79A7F74BC7D6}"/>
              </a:ext>
            </a:extLst>
          </p:cNvPr>
          <p:cNvSpPr>
            <a:spLocks noGrp="1"/>
          </p:cNvSpPr>
          <p:nvPr/>
        </p:nvSpPr>
        <p:spPr>
          <a:xfrm>
            <a:off x="4486275" y="18669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DURANTE</a:t>
            </a:r>
          </a:p>
        </p:txBody>
      </p:sp>
      <p:sp>
        <p:nvSpPr>
          <p:cNvPr id="11" name="log-body-1">
            <a:extLst>
              <a:ext uri="{FF2B5EF4-FFF2-40B4-BE49-F238E27FC236}">
                <a16:creationId xmlns:a16="http://schemas.microsoft.com/office/drawing/2014/main" id="{371964E4-9887-45F9-9FD7-A30CEE28B67B}"/>
              </a:ext>
            </a:extLst>
          </p:cNvPr>
          <p:cNvSpPr>
            <a:spLocks noGrp="1"/>
          </p:cNvSpPr>
          <p:nvPr/>
        </p:nvSpPr>
        <p:spPr>
          <a:xfrm>
            <a:off x="4486275" y="335280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Instrumentos · configuración · datos crudos · cambios · anomalías</a:t>
            </a:r>
          </a:p>
        </p:txBody>
      </p:sp>
      <p:sp>
        <p:nvSpPr>
          <p:cNvPr id="12" name="log-dot-2">
            <a:extLst>
              <a:ext uri="{FF2B5EF4-FFF2-40B4-BE49-F238E27FC236}">
                <a16:creationId xmlns:a16="http://schemas.microsoft.com/office/drawing/2014/main" id="{4F50CC18-140A-4775-9D14-175A4FAF8F6E}"/>
              </a:ext>
            </a:extLst>
          </p:cNvPr>
          <p:cNvSpPr>
            <a:spLocks noGrp="1"/>
          </p:cNvSpPr>
          <p:nvPr/>
        </p:nvSpPr>
        <p:spPr>
          <a:xfrm>
            <a:off x="8353425" y="25336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log-label-2">
            <a:extLst>
              <a:ext uri="{FF2B5EF4-FFF2-40B4-BE49-F238E27FC236}">
                <a16:creationId xmlns:a16="http://schemas.microsoft.com/office/drawing/2014/main" id="{4EA34B62-33D9-46CF-A025-20E490C9DBB8}"/>
              </a:ext>
            </a:extLst>
          </p:cNvPr>
          <p:cNvSpPr>
            <a:spLocks noGrp="1"/>
          </p:cNvSpPr>
          <p:nvPr/>
        </p:nvSpPr>
        <p:spPr>
          <a:xfrm>
            <a:off x="8258175" y="18669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DESPUÉS</a:t>
            </a:r>
          </a:p>
        </p:txBody>
      </p:sp>
      <p:sp>
        <p:nvSpPr>
          <p:cNvPr id="14" name="log-body-2">
            <a:extLst>
              <a:ext uri="{FF2B5EF4-FFF2-40B4-BE49-F238E27FC236}">
                <a16:creationId xmlns:a16="http://schemas.microsoft.com/office/drawing/2014/main" id="{1EB69676-D770-493A-86D8-433B206C0990}"/>
              </a:ext>
            </a:extLst>
          </p:cNvPr>
          <p:cNvSpPr>
            <a:spLocks noGrp="1"/>
          </p:cNvSpPr>
          <p:nvPr/>
        </p:nvSpPr>
        <p:spPr>
          <a:xfrm>
            <a:off x="8258175" y="335280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Comparación · incertidumbre · causa de diferencias · conclusión</a:t>
            </a:r>
          </a:p>
        </p:txBody>
      </p:sp>
      <p:sp>
        <p:nvSpPr>
          <p:cNvPr id="15" name="log-rule">
            <a:extLst>
              <a:ext uri="{FF2B5EF4-FFF2-40B4-BE49-F238E27FC236}">
                <a16:creationId xmlns:a16="http://schemas.microsoft.com/office/drawing/2014/main" id="{C36CBA2C-B823-4D6F-9626-299AF4C31114}"/>
              </a:ext>
            </a:extLst>
          </p:cNvPr>
          <p:cNvSpPr>
            <a:spLocks noGrp="1"/>
          </p:cNvSpPr>
          <p:nvPr/>
        </p:nvSpPr>
        <p:spPr>
          <a:xfrm>
            <a:off x="1104900" y="5448300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67"/>
          </a:bodyPr>
          <a:lstStyle/>
          <a:p>
            <a:pPr algn="ctr">
              <a:defRPr sz="1725" b="1" i="0">
                <a:solidFill>
                  <a:srgbClr val="A61B1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1B1B"/>
                </a:solidFill>
                <a:latin typeface="Arial"/>
                <a:ea typeface="Arial"/>
                <a:cs typeface="Arial"/>
              </a:rPr>
              <a:t>No se borran resultados adversos: se corrigen con una nueva entrada que explique la causa.</a:t>
            </a:r>
          </a:p>
        </p:txBody>
      </p:sp>
    </p:spTree>
    <p:extLst>
      <p:ext uri="{BB962C8B-B14F-4D97-AF65-F5344CB8AC3E}">
        <p14:creationId xmlns:p14="http://schemas.microsoft.com/office/powerpoint/2010/main" val="1165969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14">
            <a:extLst>
              <a:ext uri="{FF2B5EF4-FFF2-40B4-BE49-F238E27FC236}">
                <a16:creationId xmlns:a16="http://schemas.microsoft.com/office/drawing/2014/main" id="{6D3FD072-9468-4CF1-BA01-C2ABFF826D4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REGLAS NO NEGOCIABLES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EFC6447E-D589-42A9-B65A-9E92278E6310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seguridad tiene autoridad para detener la práctica</a:t>
            </a:r>
          </a:p>
        </p:txBody>
      </p:sp>
      <p:sp>
        <p:nvSpPr>
          <p:cNvPr id="3" name="rule-14">
            <a:extLst>
              <a:ext uri="{FF2B5EF4-FFF2-40B4-BE49-F238E27FC236}">
                <a16:creationId xmlns:a16="http://schemas.microsoft.com/office/drawing/2014/main" id="{68115BCC-AAC8-46AE-80BF-2F8307D1B165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4">
            <a:extLst>
              <a:ext uri="{FF2B5EF4-FFF2-40B4-BE49-F238E27FC236}">
                <a16:creationId xmlns:a16="http://schemas.microsoft.com/office/drawing/2014/main" id="{4CDD5090-20B5-4D9F-8BFB-9D430159CA60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afety-stop">
            <a:extLst>
              <a:ext uri="{FF2B5EF4-FFF2-40B4-BE49-F238E27FC236}">
                <a16:creationId xmlns:a16="http://schemas.microsoft.com/office/drawing/2014/main" id="{15BC2A8D-3EAC-44F8-A87E-5A6E083E57ED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3238500" cy="3962400"/>
          </a:xfrm>
          <a:prstGeom prst="rect">
            <a:avLst/>
          </a:prstGeom>
          <a:solidFill>
            <a:srgbClr val="A61B1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afety-stop-word">
            <a:extLst>
              <a:ext uri="{FF2B5EF4-FFF2-40B4-BE49-F238E27FC236}">
                <a16:creationId xmlns:a16="http://schemas.microsoft.com/office/drawing/2014/main" id="{645B97DF-FF3B-4DD6-A332-66F30C7D44DA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285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ALTO</a:t>
            </a:r>
          </a:p>
        </p:txBody>
      </p:sp>
      <p:sp>
        <p:nvSpPr>
          <p:cNvPr id="7" name="safety-stop-text">
            <a:extLst>
              <a:ext uri="{FF2B5EF4-FFF2-40B4-BE49-F238E27FC236}">
                <a16:creationId xmlns:a16="http://schemas.microsoft.com/office/drawing/2014/main" id="{431DF0CE-D0CC-498D-BB45-6C6CA74C27D7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26670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513"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Cualquier persona puede pedir que se detenga un montaje si observa un riesgo.</a:t>
            </a:r>
          </a:p>
        </p:txBody>
      </p:sp>
      <p:sp>
        <p:nvSpPr>
          <p:cNvPr id="8" name="safety-stop-resume">
            <a:extLst>
              <a:ext uri="{FF2B5EF4-FFF2-40B4-BE49-F238E27FC236}">
                <a16:creationId xmlns:a16="http://schemas.microsoft.com/office/drawing/2014/main" id="{09550C08-1058-4AB3-B749-30B31EC47ABE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Sólo se reanuda después de revisión.</a:t>
            </a:r>
          </a:p>
        </p:txBody>
      </p:sp>
      <p:sp>
        <p:nvSpPr>
          <p:cNvPr id="9" name="safety-list">
            <a:extLst>
              <a:ext uri="{FF2B5EF4-FFF2-40B4-BE49-F238E27FC236}">
                <a16:creationId xmlns:a16="http://schemas.microsoft.com/office/drawing/2014/main" id="{8B8B22DC-C4DE-4854-8EA6-DB73FCF40E5A}"/>
              </a:ext>
            </a:extLst>
          </p:cNvPr>
          <p:cNvSpPr>
            <a:spLocks noGrp="1"/>
          </p:cNvSpPr>
          <p:nvPr/>
        </p:nvSpPr>
        <p:spPr>
          <a:xfrm>
            <a:off x="4381500" y="1752600"/>
            <a:ext cx="70675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Armar y modificar con la fuente apagada.</a:t>
            </a:r>
          </a:p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Verificar polaridad, tierra común y cortocircuitos antes de energizar.</a:t>
            </a:r>
          </a:p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Ajustar primero el límite de corriente; máximo ordinario: 12 V DC.</a:t>
            </a:r>
          </a:p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Confirmar la tierra del osciloscopio y los límites de entrada.</a:t>
            </a:r>
          </a:p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Descargar capacitores y revisar tensión residual.</a:t>
            </a:r>
          </a:p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Reportar fallas, daños o incidentes; nunca ocultarlos.</a:t>
            </a:r>
          </a:p>
        </p:txBody>
      </p:sp>
      <p:sp>
        <p:nvSpPr>
          <p:cNvPr id="10" name="safety-emergency">
            <a:extLst>
              <a:ext uri="{FF2B5EF4-FFF2-40B4-BE49-F238E27FC236}">
                <a16:creationId xmlns:a16="http://schemas.microsoft.com/office/drawing/2014/main" id="{F6578671-3E97-4674-B268-D07138C4129D}"/>
              </a:ext>
            </a:extLst>
          </p:cNvPr>
          <p:cNvSpPr>
            <a:spLocks noGrp="1"/>
          </p:cNvSpPr>
          <p:nvPr/>
        </p:nvSpPr>
        <p:spPr>
          <a:xfrm>
            <a:off x="4400550" y="5334000"/>
            <a:ext cx="6991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Emergencia: cortar energía si es seguro, avisar al responsable y seguir la señalización vigente; 911 cuando corresponda.</a:t>
            </a:r>
          </a:p>
        </p:txBody>
      </p:sp>
    </p:spTree>
    <p:extLst>
      <p:ext uri="{BB962C8B-B14F-4D97-AF65-F5344CB8AC3E}">
        <p14:creationId xmlns:p14="http://schemas.microsoft.com/office/powerpoint/2010/main" val="2052336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15">
            <a:extLst>
              <a:ext uri="{FF2B5EF4-FFF2-40B4-BE49-F238E27FC236}">
                <a16:creationId xmlns:a16="http://schemas.microsoft.com/office/drawing/2014/main" id="{BACF2669-4E72-4542-AFB9-8007D108AD1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TRABAJO EN EQUIPO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166B5A81-84D0-4BB2-8FE5-10A380E7F10C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roles rotan; la responsabilidad es individual</a:t>
            </a:r>
          </a:p>
        </p:txBody>
      </p:sp>
      <p:sp>
        <p:nvSpPr>
          <p:cNvPr id="3" name="rule-15">
            <a:extLst>
              <a:ext uri="{FF2B5EF4-FFF2-40B4-BE49-F238E27FC236}">
                <a16:creationId xmlns:a16="http://schemas.microsoft.com/office/drawing/2014/main" id="{22EC864D-1AB6-4B74-80F4-A632A5A11221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5">
            <a:extLst>
              <a:ext uri="{FF2B5EF4-FFF2-40B4-BE49-F238E27FC236}">
                <a16:creationId xmlns:a16="http://schemas.microsoft.com/office/drawing/2014/main" id="{B29E1A0C-C714-4AAE-9F9F-C23AC5DE8139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ole-no-0">
            <a:extLst>
              <a:ext uri="{FF2B5EF4-FFF2-40B4-BE49-F238E27FC236}">
                <a16:creationId xmlns:a16="http://schemas.microsoft.com/office/drawing/2014/main" id="{53043719-5872-49C4-96E2-B7B6E701D796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le-title-0">
            <a:extLst>
              <a:ext uri="{FF2B5EF4-FFF2-40B4-BE49-F238E27FC236}">
                <a16:creationId xmlns:a16="http://schemas.microsoft.com/office/drawing/2014/main" id="{F5370C6F-37F1-4BCF-9C0A-61BFC485A9BE}"/>
              </a:ext>
            </a:extLst>
          </p:cNvPr>
          <p:cNvSpPr>
            <a:spLocks noGrp="1"/>
          </p:cNvSpPr>
          <p:nvPr/>
        </p:nvSpPr>
        <p:spPr>
          <a:xfrm>
            <a:off x="1352550" y="16764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Armado</a:t>
            </a:r>
          </a:p>
        </p:txBody>
      </p:sp>
      <p:sp>
        <p:nvSpPr>
          <p:cNvPr id="7" name="role-body-0">
            <a:extLst>
              <a:ext uri="{FF2B5EF4-FFF2-40B4-BE49-F238E27FC236}">
                <a16:creationId xmlns:a16="http://schemas.microsoft.com/office/drawing/2014/main" id="{5C91CE34-8655-4FA4-98B4-E3C8CA30C0E8}"/>
              </a:ext>
            </a:extLst>
          </p:cNvPr>
          <p:cNvSpPr>
            <a:spLocks noGrp="1"/>
          </p:cNvSpPr>
          <p:nvPr/>
        </p:nvSpPr>
        <p:spPr>
          <a:xfrm>
            <a:off x="3657600" y="16954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Construye sin energizar y respeta la versión del esquema.</a:t>
            </a:r>
          </a:p>
        </p:txBody>
      </p:sp>
      <p:sp>
        <p:nvSpPr>
          <p:cNvPr id="8" name="role-rule-0">
            <a:extLst>
              <a:ext uri="{FF2B5EF4-FFF2-40B4-BE49-F238E27FC236}">
                <a16:creationId xmlns:a16="http://schemas.microsoft.com/office/drawing/2014/main" id="{D8C645BF-3FD2-4045-9661-2CD6E35128C9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103060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role-no-1">
            <a:extLst>
              <a:ext uri="{FF2B5EF4-FFF2-40B4-BE49-F238E27FC236}">
                <a16:creationId xmlns:a16="http://schemas.microsoft.com/office/drawing/2014/main" id="{2BD93DF3-F301-4550-A900-4E41E527CC0A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ole-title-1">
            <a:extLst>
              <a:ext uri="{FF2B5EF4-FFF2-40B4-BE49-F238E27FC236}">
                <a16:creationId xmlns:a16="http://schemas.microsoft.com/office/drawing/2014/main" id="{E4B73210-A4B6-4A7F-94AE-817068AD2D9C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11" name="role-body-1">
            <a:extLst>
              <a:ext uri="{FF2B5EF4-FFF2-40B4-BE49-F238E27FC236}">
                <a16:creationId xmlns:a16="http://schemas.microsoft.com/office/drawing/2014/main" id="{518B1369-AA4F-40B8-AF34-74BDAE46CAF0}"/>
              </a:ext>
            </a:extLst>
          </p:cNvPr>
          <p:cNvSpPr>
            <a:spLocks noGrp="1"/>
          </p:cNvSpPr>
          <p:nvPr/>
        </p:nvSpPr>
        <p:spPr>
          <a:xfrm>
            <a:off x="3657600" y="25336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Revisa polaridad, valores, tierra y límite de corriente.</a:t>
            </a:r>
          </a:p>
        </p:txBody>
      </p:sp>
      <p:sp>
        <p:nvSpPr>
          <p:cNvPr id="12" name="role-rule-1">
            <a:extLst>
              <a:ext uri="{FF2B5EF4-FFF2-40B4-BE49-F238E27FC236}">
                <a16:creationId xmlns:a16="http://schemas.microsoft.com/office/drawing/2014/main" id="{E29869C7-643E-4DB2-B158-3480E5D4F3DE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103060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ole-no-2">
            <a:extLst>
              <a:ext uri="{FF2B5EF4-FFF2-40B4-BE49-F238E27FC236}">
                <a16:creationId xmlns:a16="http://schemas.microsoft.com/office/drawing/2014/main" id="{A799DC5A-0B07-4829-A20E-FD354D2CE507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ole-title-2">
            <a:extLst>
              <a:ext uri="{FF2B5EF4-FFF2-40B4-BE49-F238E27FC236}">
                <a16:creationId xmlns:a16="http://schemas.microsoft.com/office/drawing/2014/main" id="{73067B25-0252-4677-962D-9F9CF7CEEAB2}"/>
              </a:ext>
            </a:extLst>
          </p:cNvPr>
          <p:cNvSpPr>
            <a:spLocks noGrp="1"/>
          </p:cNvSpPr>
          <p:nvPr/>
        </p:nvSpPr>
        <p:spPr>
          <a:xfrm>
            <a:off x="1352550" y="33528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15" name="role-body-2">
            <a:extLst>
              <a:ext uri="{FF2B5EF4-FFF2-40B4-BE49-F238E27FC236}">
                <a16:creationId xmlns:a16="http://schemas.microsoft.com/office/drawing/2014/main" id="{6FB7C4AF-A311-4011-89FD-CDC7C9BC5A26}"/>
              </a:ext>
            </a:extLst>
          </p:cNvPr>
          <p:cNvSpPr>
            <a:spLocks noGrp="1"/>
          </p:cNvSpPr>
          <p:nvPr/>
        </p:nvSpPr>
        <p:spPr>
          <a:xfrm>
            <a:off x="3657600" y="33718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Configura instrumentos y conserva datos crudos.</a:t>
            </a:r>
          </a:p>
        </p:txBody>
      </p:sp>
      <p:sp>
        <p:nvSpPr>
          <p:cNvPr id="16" name="role-rule-2">
            <a:extLst>
              <a:ext uri="{FF2B5EF4-FFF2-40B4-BE49-F238E27FC236}">
                <a16:creationId xmlns:a16="http://schemas.microsoft.com/office/drawing/2014/main" id="{8699B741-9992-4338-9EBC-A3E8E01FD38E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3060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ole-no-3">
            <a:extLst>
              <a:ext uri="{FF2B5EF4-FFF2-40B4-BE49-F238E27FC236}">
                <a16:creationId xmlns:a16="http://schemas.microsoft.com/office/drawing/2014/main" id="{FCAA1777-4570-4D8F-B86B-6BB6362D1FBB}"/>
              </a:ext>
            </a:extLst>
          </p:cNvPr>
          <p:cNvSpPr>
            <a:spLocks noGrp="1"/>
          </p:cNvSpPr>
          <p:nvPr/>
        </p:nvSpPr>
        <p:spPr>
          <a:xfrm>
            <a:off x="590550" y="41910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ole-title-3">
            <a:extLst>
              <a:ext uri="{FF2B5EF4-FFF2-40B4-BE49-F238E27FC236}">
                <a16:creationId xmlns:a16="http://schemas.microsoft.com/office/drawing/2014/main" id="{9BB520B9-5AE1-4495-86A3-4A821F46FF1A}"/>
              </a:ext>
            </a:extLst>
          </p:cNvPr>
          <p:cNvSpPr>
            <a:spLocks noGrp="1"/>
          </p:cNvSpPr>
          <p:nvPr/>
        </p:nvSpPr>
        <p:spPr>
          <a:xfrm>
            <a:off x="1352550" y="41910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Simulación</a:t>
            </a:r>
          </a:p>
        </p:txBody>
      </p:sp>
      <p:sp>
        <p:nvSpPr>
          <p:cNvPr id="19" name="role-body-3">
            <a:extLst>
              <a:ext uri="{FF2B5EF4-FFF2-40B4-BE49-F238E27FC236}">
                <a16:creationId xmlns:a16="http://schemas.microsoft.com/office/drawing/2014/main" id="{E8F6E1EB-FB4E-4F93-BB99-EB735A884246}"/>
              </a:ext>
            </a:extLst>
          </p:cNvPr>
          <p:cNvSpPr>
            <a:spLocks noGrp="1"/>
          </p:cNvSpPr>
          <p:nvPr/>
        </p:nvSpPr>
        <p:spPr>
          <a:xfrm>
            <a:off x="3657600" y="42100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Mantiene modelos, parámetros y archivos reproducibles.</a:t>
            </a:r>
          </a:p>
        </p:txBody>
      </p:sp>
      <p:sp>
        <p:nvSpPr>
          <p:cNvPr id="20" name="role-rule-3">
            <a:extLst>
              <a:ext uri="{FF2B5EF4-FFF2-40B4-BE49-F238E27FC236}">
                <a16:creationId xmlns:a16="http://schemas.microsoft.com/office/drawing/2014/main" id="{8D6F31F1-2E27-4400-A5FB-23F6B6B3046E}"/>
              </a:ext>
            </a:extLst>
          </p:cNvPr>
          <p:cNvSpPr>
            <a:spLocks noGrp="1"/>
          </p:cNvSpPr>
          <p:nvPr/>
        </p:nvSpPr>
        <p:spPr>
          <a:xfrm>
            <a:off x="590550" y="4819650"/>
            <a:ext cx="103060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ole-no-4">
            <a:extLst>
              <a:ext uri="{FF2B5EF4-FFF2-40B4-BE49-F238E27FC236}">
                <a16:creationId xmlns:a16="http://schemas.microsoft.com/office/drawing/2014/main" id="{B071696D-BAEE-495A-8FC1-A3F7FF9C7D37}"/>
              </a:ext>
            </a:extLst>
          </p:cNvPr>
          <p:cNvSpPr>
            <a:spLocks noGrp="1"/>
          </p:cNvSpPr>
          <p:nvPr/>
        </p:nvSpPr>
        <p:spPr>
          <a:xfrm>
            <a:off x="590550" y="50292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ole-title-4">
            <a:extLst>
              <a:ext uri="{FF2B5EF4-FFF2-40B4-BE49-F238E27FC236}">
                <a16:creationId xmlns:a16="http://schemas.microsoft.com/office/drawing/2014/main" id="{A99DB1BA-B56A-48D2-A7D1-FC3CDDA30410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23" name="role-body-4">
            <a:extLst>
              <a:ext uri="{FF2B5EF4-FFF2-40B4-BE49-F238E27FC236}">
                <a16:creationId xmlns:a16="http://schemas.microsoft.com/office/drawing/2014/main" id="{BBF6A599-D959-4ABC-8821-E5E5DC5719DC}"/>
              </a:ext>
            </a:extLst>
          </p:cNvPr>
          <p:cNvSpPr>
            <a:spLocks noGrp="1"/>
          </p:cNvSpPr>
          <p:nvPr/>
        </p:nvSpPr>
        <p:spPr>
          <a:xfrm>
            <a:off x="3657600" y="50482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Actualiza bitácora, cambios, anomalías y contribuciones.</a:t>
            </a:r>
          </a:p>
        </p:txBody>
      </p:sp>
      <p:sp>
        <p:nvSpPr>
          <p:cNvPr id="24" name="role-rule-4">
            <a:extLst>
              <a:ext uri="{FF2B5EF4-FFF2-40B4-BE49-F238E27FC236}">
                <a16:creationId xmlns:a16="http://schemas.microsoft.com/office/drawing/2014/main" id="{7C144455-3783-4962-8713-E2E3B3C02F07}"/>
              </a:ext>
            </a:extLst>
          </p:cNvPr>
          <p:cNvSpPr>
            <a:spLocks noGrp="1"/>
          </p:cNvSpPr>
          <p:nvPr/>
        </p:nvSpPr>
        <p:spPr>
          <a:xfrm>
            <a:off x="590550" y="5657850"/>
            <a:ext cx="10306050" cy="9525"/>
          </a:xfrm>
          <a:prstGeom prst="rect">
            <a:avLst/>
          </a:prstGeom>
          <a:solidFill>
            <a:srgbClr val="BCC5CF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ole-callout">
            <a:extLst>
              <a:ext uri="{FF2B5EF4-FFF2-40B4-BE49-F238E27FC236}">
                <a16:creationId xmlns:a16="http://schemas.microsoft.com/office/drawing/2014/main" id="{3342157A-A580-4EBD-8311-B4461627FDE5}"/>
              </a:ext>
            </a:extLst>
          </p:cNvPr>
          <p:cNvSpPr>
            <a:spLocks noGrp="1"/>
          </p:cNvSpPr>
          <p:nvPr/>
        </p:nvSpPr>
        <p:spPr>
          <a:xfrm>
            <a:off x="7639050" y="5734050"/>
            <a:ext cx="3257550" cy="514350"/>
          </a:xfrm>
          <a:prstGeom prst="rect">
            <a:avLst/>
          </a:prstGeom>
          <a:solidFill>
            <a:srgbClr val="DCEEF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role-callout-text">
            <a:extLst>
              <a:ext uri="{FF2B5EF4-FFF2-40B4-BE49-F238E27FC236}">
                <a16:creationId xmlns:a16="http://schemas.microsoft.com/office/drawing/2014/main" id="{F71098BE-16A8-438E-988A-5F91B4CB8EBB}"/>
              </a:ext>
            </a:extLst>
          </p:cNvPr>
          <p:cNvSpPr>
            <a:spLocks noGrp="1"/>
          </p:cNvSpPr>
          <p:nvPr/>
        </p:nvSpPr>
        <p:spPr>
          <a:xfrm>
            <a:off x="7810500" y="58483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109"/>
          </a:bodyPr>
          <a:lstStyle/>
          <a:p>
            <a:pPr algn="ctr">
              <a:defRPr sz="12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Todas las personas pueden ser interrogadas en la defensa.</a:t>
            </a:r>
          </a:p>
        </p:txBody>
      </p:sp>
    </p:spTree>
    <p:extLst>
      <p:ext uri="{BB962C8B-B14F-4D97-AF65-F5344CB8AC3E}">
        <p14:creationId xmlns:p14="http://schemas.microsoft.com/office/powerpoint/2010/main" val="1637923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-16">
            <a:extLst>
              <a:ext uri="{FF2B5EF4-FFF2-40B4-BE49-F238E27FC236}">
                <a16:creationId xmlns:a16="http://schemas.microsoft.com/office/drawing/2014/main" id="{1327568C-2FD7-4643-AAF6-BE3FAFBAE02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INTEGRIDAD ACADÉMICA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5413C9D7-D69C-4688-8021-5D86F5F53E70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IA puede apoyar; la comprensión no se delega</a:t>
            </a:r>
          </a:p>
        </p:txBody>
      </p:sp>
      <p:sp>
        <p:nvSpPr>
          <p:cNvPr id="3" name="rule-16">
            <a:extLst>
              <a:ext uri="{FF2B5EF4-FFF2-40B4-BE49-F238E27FC236}">
                <a16:creationId xmlns:a16="http://schemas.microsoft.com/office/drawing/2014/main" id="{C4BF2FC0-8C8D-452C-B52B-F13EFF60045B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6">
            <a:extLst>
              <a:ext uri="{FF2B5EF4-FFF2-40B4-BE49-F238E27FC236}">
                <a16:creationId xmlns:a16="http://schemas.microsoft.com/office/drawing/2014/main" id="{257E6EDC-781D-43EF-8EA9-BAE7BCCCD5A9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ai-head-0">
            <a:extLst>
              <a:ext uri="{FF2B5EF4-FFF2-40B4-BE49-F238E27FC236}">
                <a16:creationId xmlns:a16="http://schemas.microsoft.com/office/drawing/2014/main" id="{29743755-0EF1-41FA-96BB-F98009A77BFD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3333750" cy="609600"/>
          </a:xfrm>
          <a:prstGeom prst="rect">
            <a:avLst/>
          </a:prstGeom>
          <a:solidFill>
            <a:srgbClr val="226B4A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ai-head-text-0">
            <a:extLst>
              <a:ext uri="{FF2B5EF4-FFF2-40B4-BE49-F238E27FC236}">
                <a16:creationId xmlns:a16="http://schemas.microsoft.com/office/drawing/2014/main" id="{443A47A6-403F-433D-A5D2-85D114A26ACC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 PERMITE</a:t>
            </a:r>
          </a:p>
        </p:txBody>
      </p:sp>
      <p:sp>
        <p:nvSpPr>
          <p:cNvPr id="7" name="ai-list-0">
            <a:extLst>
              <a:ext uri="{FF2B5EF4-FFF2-40B4-BE49-F238E27FC236}">
                <a16:creationId xmlns:a16="http://schemas.microsoft.com/office/drawing/2014/main" id="{82BBC811-0521-4C74-866C-6F8161B570AD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2971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Explorar alternativas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Depurar código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Mejorar redacción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Contrastar resultados</a:t>
            </a:r>
          </a:p>
        </p:txBody>
      </p:sp>
      <p:sp>
        <p:nvSpPr>
          <p:cNvPr id="8" name="ai-head-1">
            <a:extLst>
              <a:ext uri="{FF2B5EF4-FFF2-40B4-BE49-F238E27FC236}">
                <a16:creationId xmlns:a16="http://schemas.microsoft.com/office/drawing/2014/main" id="{CBD68921-E266-496A-9182-DB1FB1D7DE54}"/>
              </a:ext>
            </a:extLst>
          </p:cNvPr>
          <p:cNvSpPr>
            <a:spLocks noGrp="1"/>
          </p:cNvSpPr>
          <p:nvPr/>
        </p:nvSpPr>
        <p:spPr>
          <a:xfrm>
            <a:off x="4267200" y="1752600"/>
            <a:ext cx="3333750" cy="609600"/>
          </a:xfrm>
          <a:prstGeom prst="rect">
            <a:avLst/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ai-head-text-1">
            <a:extLst>
              <a:ext uri="{FF2B5EF4-FFF2-40B4-BE49-F238E27FC236}">
                <a16:creationId xmlns:a16="http://schemas.microsoft.com/office/drawing/2014/main" id="{A1D3A63E-C181-468D-BD29-0CB8FBF02375}"/>
              </a:ext>
            </a:extLst>
          </p:cNvPr>
          <p:cNvSpPr>
            <a:spLocks noGrp="1"/>
          </p:cNvSpPr>
          <p:nvPr/>
        </p:nvSpPr>
        <p:spPr>
          <a:xfrm>
            <a:off x="4267200" y="18859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 EXIGE</a:t>
            </a:r>
          </a:p>
        </p:txBody>
      </p:sp>
      <p:sp>
        <p:nvSpPr>
          <p:cNvPr id="10" name="ai-list-1">
            <a:extLst>
              <a:ext uri="{FF2B5EF4-FFF2-40B4-BE49-F238E27FC236}">
                <a16:creationId xmlns:a16="http://schemas.microsoft.com/office/drawing/2014/main" id="{94291DA7-3C84-4D00-A9F5-2F8BEE779E3B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2971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Declarar herramienta y propósito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Verificar cálculos y fuentes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Conservar archivos de trabajo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Defender las decisiones</a:t>
            </a:r>
          </a:p>
        </p:txBody>
      </p:sp>
      <p:sp>
        <p:nvSpPr>
          <p:cNvPr id="11" name="ai-head-2">
            <a:extLst>
              <a:ext uri="{FF2B5EF4-FFF2-40B4-BE49-F238E27FC236}">
                <a16:creationId xmlns:a16="http://schemas.microsoft.com/office/drawing/2014/main" id="{093455E6-6FD1-4319-A320-8329518C31FB}"/>
              </a:ext>
            </a:extLst>
          </p:cNvPr>
          <p:cNvSpPr>
            <a:spLocks noGrp="1"/>
          </p:cNvSpPr>
          <p:nvPr/>
        </p:nvSpPr>
        <p:spPr>
          <a:xfrm>
            <a:off x="7981950" y="1752600"/>
            <a:ext cx="3333750" cy="609600"/>
          </a:xfrm>
          <a:prstGeom prst="rect">
            <a:avLst/>
          </a:prstGeom>
          <a:solidFill>
            <a:srgbClr val="A61B1B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ai-head-text-2">
            <a:extLst>
              <a:ext uri="{FF2B5EF4-FFF2-40B4-BE49-F238E27FC236}">
                <a16:creationId xmlns:a16="http://schemas.microsoft.com/office/drawing/2014/main" id="{0ED57865-E59C-430A-B5C4-140BD6E38C0F}"/>
              </a:ext>
            </a:extLst>
          </p:cNvPr>
          <p:cNvSpPr>
            <a:spLocks noGrp="1"/>
          </p:cNvSpPr>
          <p:nvPr/>
        </p:nvSpPr>
        <p:spPr>
          <a:xfrm>
            <a:off x="7981950" y="18859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 PROHÍBE</a:t>
            </a:r>
          </a:p>
        </p:txBody>
      </p:sp>
      <p:sp>
        <p:nvSpPr>
          <p:cNvPr id="13" name="ai-list-2">
            <a:extLst>
              <a:ext uri="{FF2B5EF4-FFF2-40B4-BE49-F238E27FC236}">
                <a16:creationId xmlns:a16="http://schemas.microsoft.com/office/drawing/2014/main" id="{8B01DDD0-08DD-46C7-B8EB-F0DF383FFFD6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2971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Inventar datos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Alterar evidencias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Copiar informes</a:t>
            </a:r>
          </a:p>
          <a:p>
            <a:pPr algn="l"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Usar IA en examen sin permiso</a:t>
            </a:r>
          </a:p>
        </p:txBody>
      </p:sp>
      <p:sp>
        <p:nvSpPr>
          <p:cNvPr id="14" name="ai-bottom">
            <a:extLst>
              <a:ext uri="{FF2B5EF4-FFF2-40B4-BE49-F238E27FC236}">
                <a16:creationId xmlns:a16="http://schemas.microsoft.com/office/drawing/2014/main" id="{3D25F881-2E4D-4FD0-AEEB-07BB058BF552}"/>
              </a:ext>
            </a:extLst>
          </p:cNvPr>
          <p:cNvSpPr>
            <a:spLocks noGrp="1"/>
          </p:cNvSpPr>
          <p:nvPr/>
        </p:nvSpPr>
        <p:spPr>
          <a:xfrm>
            <a:off x="1143000" y="5524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29"/>
          </a:bodyPr>
          <a:lstStyle/>
          <a:p>
            <a:pPr algn="ctr">
              <a:defRPr sz="1950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Toda entrega debe permitir identificar qué comprende y qué aportó cada estudiante.</a:t>
            </a:r>
          </a:p>
        </p:txBody>
      </p:sp>
    </p:spTree>
    <p:extLst>
      <p:ext uri="{BB962C8B-B14F-4D97-AF65-F5344CB8AC3E}">
        <p14:creationId xmlns:p14="http://schemas.microsoft.com/office/powerpoint/2010/main" val="1600508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17">
            <a:extLst>
              <a:ext uri="{FF2B5EF4-FFF2-40B4-BE49-F238E27FC236}">
                <a16:creationId xmlns:a16="http://schemas.microsoft.com/office/drawing/2014/main" id="{E527D9AA-1394-4394-8E17-B2FE2874934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COMUNICACIÓN Y ENTREGAS</a:t>
            </a:r>
          </a:p>
        </p:txBody>
      </p:sp>
      <p:sp>
        <p:nvSpPr>
          <p:cNvPr id="2" name="title-17">
            <a:extLst>
              <a:ext uri="{FF2B5EF4-FFF2-40B4-BE49-F238E27FC236}">
                <a16:creationId xmlns:a16="http://schemas.microsoft.com/office/drawing/2014/main" id="{FFBEBFEC-2407-46D7-81AE-7085D55D33D0}"/>
              </a:ext>
            </a:extLst>
          </p:cNvPr>
          <p:cNvSpPr>
            <a:spLocks noGrp="1"/>
          </p:cNvSpPr>
          <p:nvPr/>
        </p:nvSpPr>
        <p:spPr>
          <a:xfrm>
            <a:off x="514350" y="6381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Classroom será el registro oficial</a:t>
            </a:r>
          </a:p>
        </p:txBody>
      </p:sp>
      <p:sp>
        <p:nvSpPr>
          <p:cNvPr id="3" name="rule-17">
            <a:extLst>
              <a:ext uri="{FF2B5EF4-FFF2-40B4-BE49-F238E27FC236}">
                <a16:creationId xmlns:a16="http://schemas.microsoft.com/office/drawing/2014/main" id="{9375F2D5-5C90-4F71-AAC3-E284E1531BBD}"/>
              </a:ext>
            </a:extLst>
          </p:cNvPr>
          <p:cNvSpPr>
            <a:spLocks noGrp="1"/>
          </p:cNvSpPr>
          <p:nvPr/>
        </p:nvSpPr>
        <p:spPr>
          <a:xfrm>
            <a:off x="514350" y="1323975"/>
            <a:ext cx="11163300" cy="28575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page-17">
            <a:extLst>
              <a:ext uri="{FF2B5EF4-FFF2-40B4-BE49-F238E27FC236}">
                <a16:creationId xmlns:a16="http://schemas.microsoft.com/office/drawing/2014/main" id="{6F3710A6-7364-41BF-870D-85394602B083}"/>
              </a:ext>
            </a:extLst>
          </p:cNvPr>
          <p:cNvSpPr>
            <a:spLocks noGrp="1"/>
          </p:cNvSpPr>
          <p:nvPr/>
        </p:nvSpPr>
        <p:spPr>
          <a:xfrm>
            <a:off x="11096625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r"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class-line">
            <a:extLst>
              <a:ext uri="{FF2B5EF4-FFF2-40B4-BE49-F238E27FC236}">
                <a16:creationId xmlns:a16="http://schemas.microsoft.com/office/drawing/2014/main" id="{DE974713-C2A0-485D-A4F5-EAE10F2AF3FA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38100"/>
          </a:xfrm>
          <a:prstGeom prst="rect">
            <a:avLst/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class-phase-0">
            <a:extLst>
              <a:ext uri="{FF2B5EF4-FFF2-40B4-BE49-F238E27FC236}">
                <a16:creationId xmlns:a16="http://schemas.microsoft.com/office/drawing/2014/main" id="{3F4428B0-6C00-45FB-82DA-35283E78EF7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CONSULTAR</a:t>
            </a:r>
          </a:p>
        </p:txBody>
      </p:sp>
      <p:sp>
        <p:nvSpPr>
          <p:cNvPr id="7" name="class-dot-0">
            <a:extLst>
              <a:ext uri="{FF2B5EF4-FFF2-40B4-BE49-F238E27FC236}">
                <a16:creationId xmlns:a16="http://schemas.microsoft.com/office/drawing/2014/main" id="{60A31F06-60B6-44F3-A592-3017EBB889FC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class-body-0">
            <a:extLst>
              <a:ext uri="{FF2B5EF4-FFF2-40B4-BE49-F238E27FC236}">
                <a16:creationId xmlns:a16="http://schemas.microsoft.com/office/drawing/2014/main" id="{839B4D47-8F13-48A9-9B76-B0A7C5F763C3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3143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Programa, lineamientos, prácticas, rúbricas, avisos y fechas.</a:t>
            </a:r>
          </a:p>
        </p:txBody>
      </p:sp>
      <p:sp>
        <p:nvSpPr>
          <p:cNvPr id="9" name="class-phase-1">
            <a:extLst>
              <a:ext uri="{FF2B5EF4-FFF2-40B4-BE49-F238E27FC236}">
                <a16:creationId xmlns:a16="http://schemas.microsoft.com/office/drawing/2014/main" id="{620FF64F-EB5D-4BAF-931C-36BD0B102857}"/>
              </a:ext>
            </a:extLst>
          </p:cNvPr>
          <p:cNvSpPr>
            <a:spLocks noGrp="1"/>
          </p:cNvSpPr>
          <p:nvPr/>
        </p:nvSpPr>
        <p:spPr>
          <a:xfrm>
            <a:off x="4476750" y="1924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ENTREGAR</a:t>
            </a:r>
          </a:p>
        </p:txBody>
      </p:sp>
      <p:sp>
        <p:nvSpPr>
          <p:cNvPr id="10" name="class-dot-1">
            <a:extLst>
              <a:ext uri="{FF2B5EF4-FFF2-40B4-BE49-F238E27FC236}">
                <a16:creationId xmlns:a16="http://schemas.microsoft.com/office/drawing/2014/main" id="{3CE68B9A-5BED-4FC6-8BDB-763929B04B6B}"/>
              </a:ext>
            </a:extLst>
          </p:cNvPr>
          <p:cNvSpPr>
            <a:spLocks noGrp="1"/>
          </p:cNvSpPr>
          <p:nvPr/>
        </p:nvSpPr>
        <p:spPr>
          <a:xfrm>
            <a:off x="4476750" y="28384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class-body-1">
            <a:extLst>
              <a:ext uri="{FF2B5EF4-FFF2-40B4-BE49-F238E27FC236}">
                <a16:creationId xmlns:a16="http://schemas.microsoft.com/office/drawing/2014/main" id="{D13EF37A-75E8-4188-A3B6-72EA2E34CADC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3143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Versión final que abra correctamente, más archivos fuente y datos.</a:t>
            </a:r>
          </a:p>
        </p:txBody>
      </p:sp>
      <p:sp>
        <p:nvSpPr>
          <p:cNvPr id="12" name="class-phase-2">
            <a:extLst>
              <a:ext uri="{FF2B5EF4-FFF2-40B4-BE49-F238E27FC236}">
                <a16:creationId xmlns:a16="http://schemas.microsoft.com/office/drawing/2014/main" id="{7E0CF695-23B7-4207-8BFB-2D5AECB34D78}"/>
              </a:ext>
            </a:extLst>
          </p:cNvPr>
          <p:cNvSpPr>
            <a:spLocks noGrp="1"/>
          </p:cNvSpPr>
          <p:nvPr/>
        </p:nvSpPr>
        <p:spPr>
          <a:xfrm>
            <a:off x="8248650" y="1924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2B5C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3" name="class-dot-2">
            <a:extLst>
              <a:ext uri="{FF2B5EF4-FFF2-40B4-BE49-F238E27FC236}">
                <a16:creationId xmlns:a16="http://schemas.microsoft.com/office/drawing/2014/main" id="{ED379ADD-FC67-41B8-A228-0A96674D3E4E}"/>
              </a:ext>
            </a:extLst>
          </p:cNvPr>
          <p:cNvSpPr>
            <a:spLocks noGrp="1"/>
          </p:cNvSpPr>
          <p:nvPr/>
        </p:nvSpPr>
        <p:spPr>
          <a:xfrm>
            <a:off x="8248650" y="28384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02B5C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class-body-2">
            <a:extLst>
              <a:ext uri="{FF2B5EF4-FFF2-40B4-BE49-F238E27FC236}">
                <a16:creationId xmlns:a16="http://schemas.microsoft.com/office/drawing/2014/main" id="{3BFE4A11-5208-4D8B-A94E-AEFD80817F85}"/>
              </a:ext>
            </a:extLst>
          </p:cNvPr>
          <p:cNvSpPr>
            <a:spLocks noGrp="1"/>
          </p:cNvSpPr>
          <p:nvPr/>
        </p:nvSpPr>
        <p:spPr>
          <a:xfrm>
            <a:off x="8248650" y="3619500"/>
            <a:ext cx="3143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Identificar actividad, criterio de rúbrica y evidencia concreta.</a:t>
            </a:r>
          </a:p>
        </p:txBody>
      </p:sp>
      <p:sp>
        <p:nvSpPr>
          <p:cNvPr id="15" name="class-late">
            <a:extLst>
              <a:ext uri="{FF2B5EF4-FFF2-40B4-BE49-F238E27FC236}">
                <a16:creationId xmlns:a16="http://schemas.microsoft.com/office/drawing/2014/main" id="{319C5038-0B3D-4D0B-8AA7-61E89CCCDA3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9715500" cy="6667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class-late-text">
            <a:extLst>
              <a:ext uri="{FF2B5EF4-FFF2-40B4-BE49-F238E27FC236}">
                <a16:creationId xmlns:a16="http://schemas.microsoft.com/office/drawing/2014/main" id="{82EAB5F1-F88F-4B68-8FD7-F30D22F91AFC}"/>
              </a:ext>
            </a:extLst>
          </p:cNvPr>
          <p:cNvSpPr>
            <a:spLocks noGrp="1"/>
          </p:cNvSpPr>
          <p:nvPr/>
        </p:nvSpPr>
        <p:spPr>
          <a:xfrm>
            <a:off x="1485900" y="5486400"/>
            <a:ext cx="9220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259"/>
          </a:bodyPr>
          <a:lstStyle/>
          <a:p>
            <a:pPr algn="ctr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Después del cierre sólo se califica si existe ventana tardía o excepción documentada. Los cambios generales se publican por escrito y aplican a todo el grupo.</a:t>
            </a:r>
          </a:p>
        </p:txBody>
      </p:sp>
    </p:spTree>
    <p:extLst>
      <p:ext uri="{BB962C8B-B14F-4D97-AF65-F5344CB8AC3E}">
        <p14:creationId xmlns:p14="http://schemas.microsoft.com/office/powerpoint/2010/main" val="477112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499" r="24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lose-overlay">
            <a:extLst>
              <a:ext uri="{FF2B5EF4-FFF2-40B4-BE49-F238E27FC236}">
                <a16:creationId xmlns:a16="http://schemas.microsoft.com/office/drawing/2014/main" id="{4E324FD1-197F-4B3B-9B40-408CD5D81D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close-gold">
            <a:extLst>
              <a:ext uri="{FF2B5EF4-FFF2-40B4-BE49-F238E27FC236}">
                <a16:creationId xmlns:a16="http://schemas.microsoft.com/office/drawing/2014/main" id="{58FCAFF0-D3D3-4694-9674-194B8520B95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85725" cy="4953000"/>
          </a:xfrm>
          <a:prstGeom prst="rect">
            <a:avLst/>
          </a:prstGeom>
          <a:solidFill>
            <a:srgbClr val="C9A227"/>
          </a:solidFill>
          <a:ln w="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close-kicker">
            <a:extLst>
              <a:ext uri="{FF2B5EF4-FFF2-40B4-BE49-F238E27FC236}">
                <a16:creationId xmlns:a16="http://schemas.microsoft.com/office/drawing/2014/main" id="{7682BACA-3448-4C21-9D0C-B9842CB0DD64}"/>
              </a:ext>
            </a:extLst>
          </p:cNvPr>
          <p:cNvSpPr>
            <a:spLocks noGrp="1"/>
          </p:cNvSpPr>
          <p:nvPr/>
        </p:nvSpPr>
        <p:spPr>
          <a:xfrm>
            <a:off x="933450" y="800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SEMANA 1 · 17–23 DE AGOSTO DE 2026</a:t>
            </a:r>
          </a:p>
        </p:txBody>
      </p:sp>
      <p:sp>
        <p:nvSpPr>
          <p:cNvPr id="5" name="close-title">
            <a:extLst>
              <a:ext uri="{FF2B5EF4-FFF2-40B4-BE49-F238E27FC236}">
                <a16:creationId xmlns:a16="http://schemas.microsoft.com/office/drawing/2014/main" id="{DC010185-D29D-4285-94F1-BC2329E979C1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5905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Primero predecimos.</a:t>
            </a:r>
          </a:p>
          <a:p>
            <a: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Después simulamos.</a:t>
            </a:r>
          </a:p>
          <a:p>
            <a:pPr algn="l">
              <a:defRPr sz="3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Finalmente medimos.</a:t>
            </a:r>
          </a:p>
        </p:txBody>
      </p:sp>
      <p:sp>
        <p:nvSpPr>
          <p:cNvPr id="6" name="close-actions">
            <a:extLst>
              <a:ext uri="{FF2B5EF4-FFF2-40B4-BE49-F238E27FC236}">
                <a16:creationId xmlns:a16="http://schemas.microsoft.com/office/drawing/2014/main" id="{C46EE283-63E2-452D-8F42-BAF07C28D5F8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57150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 Leer programa y lineamientos, y confirmar el acuse en Classroom.</a:t>
            </a:r>
          </a:p>
          <a:p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 Activar notificaciones y verificar la cuenta institucional.</a:t>
            </a:r>
          </a:p>
          <a:p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 Preparar calculadora, cuaderno y archivos de simulación.</a:t>
            </a:r>
          </a:p>
        </p:txBody>
      </p:sp>
      <p:sp>
        <p:nvSpPr>
          <p:cNvPr id="7" name="close-question">
            <a:extLst>
              <a:ext uri="{FF2B5EF4-FFF2-40B4-BE49-F238E27FC236}">
                <a16:creationId xmlns:a16="http://schemas.microsoft.com/office/drawing/2014/main" id="{43D249F8-C0BE-4338-9BF3-B75B1459B29F}"/>
              </a:ext>
            </a:extLst>
          </p:cNvPr>
          <p:cNvSpPr>
            <a:spLocks noGrp="1"/>
          </p:cNvSpPr>
          <p:nvPr/>
        </p:nvSpPr>
        <p:spPr>
          <a:xfrm>
            <a:off x="933450" y="60007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 i="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9A227"/>
                </a:solidFill>
                <a:latin typeface="Arial"/>
                <a:ea typeface="Arial"/>
                <a:cs typeface="Arial"/>
              </a:rPr>
              <a:t>¿Qué necesitan aclarar antes de comenzar?</a:t>
            </a:r>
          </a:p>
        </p:txBody>
      </p:sp>
    </p:spTree>
    <p:extLst>
      <p:ext uri="{BB962C8B-B14F-4D97-AF65-F5344CB8AC3E}">
        <p14:creationId xmlns:p14="http://schemas.microsoft.com/office/powerpoint/2010/main" val="14507556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2805</Words>
  <Application>Microsoft Office PowerPoint</Application>
  <DocSecurity>0</DocSecurity>
  <PresentationFormat>Widescreen</PresentationFormat>
  <Paragraphs>400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Jesus Santana</cp:lastModifiedBy>
  <cp:revision>1</cp:revision>
  <dcterms:created xsi:type="dcterms:W3CDTF">2026-08-16T23:54:03Z</dcterms:created>
  <dcterms:modified xsi:type="dcterms:W3CDTF">2026-08-18T00:50:46Z</dcterms:modified>
</cp:coreProperties>
</file>